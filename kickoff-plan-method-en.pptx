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lan" id="{ee90ef44-9d77-1e21-20b2-13f554b678e7}">
          <p14:sldIdLst>
            <p14:sldId id="256"/>
            <p14:sldId id="257"/>
            <p14:sldId id="258"/>
          </p14:sldIdLst>
        </p14:section>
        <p14:section name="Method &amp; prerequisites" id="{cd9d55e0-8db8-3659-8d2c-a4f9d08aaf0d}">
          <p14:sldIdLst>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four-stage method. Our 12 weeks cover Diagnosis and Tech proof. Each stage ends on an exit criterion the sponsor can see. We anchor each line before moving to the next. The whole site follows in 6 to 9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Scheduling and product quality carry the capacity gain. Quality release mostly brings cash, counted once, and service. Time to market moves to tech proof only if the W4 gate justifies it. Some initiatives will fail: stopping a project is a result, written up like a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Thresholds are set with the sponsor and the controller. The criteria are read out at every steering committee. Failing the same gate twice is a decision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capacity gain is measured on the bottleneck line: an hour gained elsewhere adds no batch. Freed capacity is worth money only if it is sold. Question for the committee: what is the order book against demonstrated capacity? Export stockouts suggest yes; to be proven. The cash from quality release stock counts once. The baseline and the gains protocol (metric, formula, source, normalization, cadence, sign-off threshold) are signed in W1.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deployment levels. In 12 weeks we go up to co-pilot: the team starts from the proposal and gives a reason for every change. Every disagreement with the tool is traced to its cause: missing rule, wrong rule, wrong data. Releasing a batch always stays the qualified person's decision. Governance: weekly 30-minute ops review, monthly one-hour steering committee that decides go or stop, a decision log read at every ritual. No surprises: bad news travels the same day, with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sponsor gives 30 minutes a week and clears a blocker within a week. The IT security review starts on day one; meanwhile we work on exports. Experts' hours are freed by their managers, not asked of the experts. In France, the works council (CSE) is consulted before any tool that could monitor operators'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Laboratoires Sorel · Executive committee kickoff · Plan &amp; method</a:t>
            </a:r>
            <a:endParaRPr lang="en-US" sz="10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3000" b="1" dirty="0">
                <a:solidFill>
                  <a:schemeClr val="tx2"/>
                </a:solidFill>
              </a:rPr>
              <a:t>In 12 weeks, we prove the gain on the bottleneck line</a:t>
            </a:r>
            <a:endParaRPr lang="en-US" sz="3000" dirty="0"/>
          </a:p>
        </p:txBody>
      </p:sp>
      <p:sp>
        <p:nvSpPr>
          <p:cNvPr id="4" name="Shape 1"/>
          <p:cNvSpPr/>
          <p:nvPr/>
        </p:nvSpPr>
        <p:spPr>
          <a:xfrm>
            <a:off x="411480" y="1600200"/>
            <a:ext cx="5715000" cy="4343400"/>
          </a:xfrm>
          <a:prstGeom prst="roundRect">
            <a:avLst>
              <a:gd name="adj" fmla="val 1684"/>
            </a:avLst>
          </a:prstGeom>
          <a:solidFill>
            <a:schemeClr val="bg2"/>
          </a:solidFill>
          <a:ln/>
        </p:spPr>
      </p:sp>
      <p:sp>
        <p:nvSpPr>
          <p:cNvPr id="5" name="Text 2"/>
          <p:cNvSpPr txBox="1"/>
          <p:nvPr/>
        </p:nvSpPr>
        <p:spPr>
          <a:xfrm>
            <a:off x="685800" y="1783080"/>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OUR 12 WEEKS</a:t>
            </a:r>
            <a:endParaRPr lang="en-US" sz="1200" dirty="0"/>
          </a:p>
        </p:txBody>
      </p:sp>
      <p:sp>
        <p:nvSpPr>
          <p:cNvPr id="6" name="Shape 3"/>
          <p:cNvSpPr/>
          <p:nvPr/>
        </p:nvSpPr>
        <p:spPr>
          <a:xfrm>
            <a:off x="685800" y="2286000"/>
            <a:ext cx="640080" cy="640080"/>
          </a:xfrm>
          <a:prstGeom prst="ellipse">
            <a:avLst/>
          </a:prstGeom>
          <a:solidFill>
            <a:schemeClr val="accent1"/>
          </a:solidFill>
          <a:ln/>
        </p:spPr>
      </p:sp>
      <p:sp>
        <p:nvSpPr>
          <p:cNvPr id="7" name="Text 4"/>
          <p:cNvSpPr txBox="1"/>
          <p:nvPr/>
        </p:nvSpPr>
        <p:spPr>
          <a:xfrm>
            <a:off x="685800" y="22860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Shape 5"/>
          <p:cNvSpPr/>
          <p:nvPr/>
        </p:nvSpPr>
        <p:spPr>
          <a:xfrm>
            <a:off x="1463040" y="2606040"/>
            <a:ext cx="1920240" cy="0"/>
          </a:xfrm>
          <a:prstGeom prst="line">
            <a:avLst/>
          </a:prstGeom>
          <a:noFill/>
          <a:ln w="19050">
            <a:solidFill>
              <a:srgbClr val="D5DED7"/>
            </a:solidFill>
            <a:prstDash val="solid"/>
            <a:tailEnd type="triangle"/>
          </a:ln>
        </p:spPr>
      </p:sp>
      <p:sp>
        <p:nvSpPr>
          <p:cNvPr id="9" name="Text 6"/>
          <p:cNvSpPr txBox="1"/>
          <p:nvPr/>
        </p:nvSpPr>
        <p:spPr>
          <a:xfrm>
            <a:off x="685800" y="3154680"/>
            <a:ext cx="2560320" cy="411480"/>
          </a:xfrm>
          <a:prstGeom prst="rect">
            <a:avLst/>
          </a:prstGeom>
          <a:noFill/>
          <a:ln/>
        </p:spPr>
        <p:txBody>
          <a:bodyPr wrap="square" lIns="0" tIns="0" rIns="0" bIns="0" rtlCol="0" anchor="t"/>
          <a:lstStyle/>
          <a:p>
            <a:pPr indent="0" marL="0">
              <a:buNone/>
            </a:pPr>
            <a:r>
              <a:rPr lang="en-US" sz="1800" b="1" dirty="0">
                <a:solidFill>
                  <a:schemeClr val="tx2"/>
                </a:solidFill>
              </a:rPr>
              <a:t>Diagnosis</a:t>
            </a:r>
            <a:endParaRPr lang="en-US" sz="1800" dirty="0"/>
          </a:p>
        </p:txBody>
      </p:sp>
      <p:sp>
        <p:nvSpPr>
          <p:cNvPr id="10" name="Text 7"/>
          <p:cNvSpPr txBox="1"/>
          <p:nvPr/>
        </p:nvSpPr>
        <p:spPr>
          <a:xfrm>
            <a:off x="685800" y="3611880"/>
            <a:ext cx="2560320" cy="685800"/>
          </a:xfrm>
          <a:prstGeom prst="rect">
            <a:avLst/>
          </a:prstGeom>
          <a:noFill/>
          <a:ln/>
        </p:spPr>
        <p:txBody>
          <a:bodyPr wrap="square" lIns="0" tIns="0" rIns="0" bIns="0" rtlCol="0" anchor="t"/>
          <a:lstStyle/>
          <a:p>
            <a:pPr indent="0" marL="0">
              <a:buNone/>
            </a:pPr>
            <a:r>
              <a:rPr lang="en-US" sz="3200" b="1" dirty="0">
                <a:solidFill>
                  <a:schemeClr val="accent1"/>
                </a:solidFill>
              </a:rPr>
              <a:t>2–4 wks</a:t>
            </a:r>
            <a:endParaRPr lang="en-US" sz="3200" dirty="0"/>
          </a:p>
        </p:txBody>
      </p:sp>
      <p:sp>
        <p:nvSpPr>
          <p:cNvPr id="11" name="Text 8"/>
          <p:cNvSpPr txBox="1"/>
          <p:nvPr/>
        </p:nvSpPr>
        <p:spPr>
          <a:xfrm>
            <a:off x="685800" y="4343400"/>
            <a:ext cx="2560320" cy="320040"/>
          </a:xfrm>
          <a:prstGeom prst="rect">
            <a:avLst/>
          </a:prstGeom>
          <a:noFill/>
          <a:ln/>
        </p:spPr>
        <p:txBody>
          <a:bodyPr wrap="square" lIns="0" tIns="0" rIns="0" bIns="0" rtlCol="0" anchor="t"/>
          <a:lstStyle/>
          <a:p>
            <a:pPr indent="0" marL="0">
              <a:buNone/>
            </a:pPr>
            <a:r>
              <a:rPr lang="en-US" sz="1400" dirty="0">
                <a:solidFill>
                  <a:schemeClr val="accent4"/>
                </a:solidFill>
              </a:rPr>
              <a:t>W1–W4</a:t>
            </a:r>
            <a:endParaRPr lang="en-US" sz="1400" dirty="0"/>
          </a:p>
        </p:txBody>
      </p:sp>
      <p:sp>
        <p:nvSpPr>
          <p:cNvPr id="12" name="Text 9"/>
          <p:cNvSpPr txBox="1"/>
          <p:nvPr/>
        </p:nvSpPr>
        <p:spPr>
          <a:xfrm>
            <a:off x="685800" y="4892040"/>
            <a:ext cx="2377440" cy="731520"/>
          </a:xfrm>
          <a:prstGeom prst="rect">
            <a:avLst/>
          </a:prstGeom>
          <a:noFill/>
          <a:ln/>
        </p:spPr>
        <p:txBody>
          <a:bodyPr wrap="square" lIns="0" tIns="0" rIns="0" bIns="0" rtlCol="0" anchor="t"/>
          <a:lstStyle/>
          <a:p>
            <a:pPr indent="0" marL="0">
              <a:buNone/>
            </a:pPr>
            <a:r>
              <a:rPr lang="en-US" sz="1400" dirty="0">
                <a:solidFill>
                  <a:schemeClr val="tx1"/>
                </a:solidFill>
              </a:rPr>
              <a:t>Charter signed, baseline agreed</a:t>
            </a:r>
            <a:endParaRPr lang="en-US" sz="1400" dirty="0"/>
          </a:p>
        </p:txBody>
      </p:sp>
      <p:sp>
        <p:nvSpPr>
          <p:cNvPr id="13" name="Shape 10"/>
          <p:cNvSpPr/>
          <p:nvPr/>
        </p:nvSpPr>
        <p:spPr>
          <a:xfrm>
            <a:off x="3520440" y="2286000"/>
            <a:ext cx="640080" cy="640080"/>
          </a:xfrm>
          <a:prstGeom prst="ellipse">
            <a:avLst/>
          </a:prstGeom>
          <a:solidFill>
            <a:schemeClr val="accent1"/>
          </a:solidFill>
          <a:ln/>
        </p:spPr>
      </p:sp>
      <p:sp>
        <p:nvSpPr>
          <p:cNvPr id="14" name="Text 11"/>
          <p:cNvSpPr txBox="1"/>
          <p:nvPr/>
        </p:nvSpPr>
        <p:spPr>
          <a:xfrm>
            <a:off x="3520440" y="22860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5" name="Shape 12"/>
          <p:cNvSpPr/>
          <p:nvPr/>
        </p:nvSpPr>
        <p:spPr>
          <a:xfrm>
            <a:off x="4297680" y="2606040"/>
            <a:ext cx="1920240" cy="0"/>
          </a:xfrm>
          <a:prstGeom prst="line">
            <a:avLst/>
          </a:prstGeom>
          <a:noFill/>
          <a:ln w="19050">
            <a:solidFill>
              <a:srgbClr val="D5DED7"/>
            </a:solidFill>
            <a:prstDash val="solid"/>
            <a:tailEnd type="triangle"/>
          </a:ln>
        </p:spPr>
      </p:sp>
      <p:sp>
        <p:nvSpPr>
          <p:cNvPr id="16" name="Text 13"/>
          <p:cNvSpPr txBox="1"/>
          <p:nvPr/>
        </p:nvSpPr>
        <p:spPr>
          <a:xfrm>
            <a:off x="3520440" y="3154680"/>
            <a:ext cx="2560320" cy="411480"/>
          </a:xfrm>
          <a:prstGeom prst="rect">
            <a:avLst/>
          </a:prstGeom>
          <a:noFill/>
          <a:ln/>
        </p:spPr>
        <p:txBody>
          <a:bodyPr wrap="square" lIns="0" tIns="0" rIns="0" bIns="0" rtlCol="0" anchor="t"/>
          <a:lstStyle/>
          <a:p>
            <a:pPr indent="0" marL="0">
              <a:buNone/>
            </a:pPr>
            <a:r>
              <a:rPr lang="en-US" sz="1800" b="1" dirty="0">
                <a:solidFill>
                  <a:schemeClr val="tx2"/>
                </a:solidFill>
              </a:rPr>
              <a:t>Tech proof</a:t>
            </a:r>
            <a:endParaRPr lang="en-US" sz="1800" dirty="0"/>
          </a:p>
        </p:txBody>
      </p:sp>
      <p:sp>
        <p:nvSpPr>
          <p:cNvPr id="17" name="Text 14"/>
          <p:cNvSpPr txBox="1"/>
          <p:nvPr/>
        </p:nvSpPr>
        <p:spPr>
          <a:xfrm>
            <a:off x="3520440" y="3611880"/>
            <a:ext cx="2560320" cy="685800"/>
          </a:xfrm>
          <a:prstGeom prst="rect">
            <a:avLst/>
          </a:prstGeom>
          <a:noFill/>
          <a:ln/>
        </p:spPr>
        <p:txBody>
          <a:bodyPr wrap="square" lIns="0" tIns="0" rIns="0" bIns="0" rtlCol="0" anchor="t"/>
          <a:lstStyle/>
          <a:p>
            <a:pPr indent="0" marL="0">
              <a:buNone/>
            </a:pPr>
            <a:r>
              <a:rPr lang="en-US" sz="3200" b="1" dirty="0">
                <a:solidFill>
                  <a:schemeClr val="accent1"/>
                </a:solidFill>
              </a:rPr>
              <a:t>6–12 wks</a:t>
            </a:r>
            <a:endParaRPr lang="en-US" sz="3200" dirty="0"/>
          </a:p>
        </p:txBody>
      </p:sp>
      <p:sp>
        <p:nvSpPr>
          <p:cNvPr id="18" name="Text 15"/>
          <p:cNvSpPr txBox="1"/>
          <p:nvPr/>
        </p:nvSpPr>
        <p:spPr>
          <a:xfrm>
            <a:off x="3520440" y="4343400"/>
            <a:ext cx="2560320" cy="320040"/>
          </a:xfrm>
          <a:prstGeom prst="rect">
            <a:avLst/>
          </a:prstGeom>
          <a:noFill/>
          <a:ln/>
        </p:spPr>
        <p:txBody>
          <a:bodyPr wrap="square" lIns="0" tIns="0" rIns="0" bIns="0" rtlCol="0" anchor="t"/>
          <a:lstStyle/>
          <a:p>
            <a:pPr indent="0" marL="0">
              <a:buNone/>
            </a:pPr>
            <a:r>
              <a:rPr lang="en-US" sz="1400" dirty="0">
                <a:solidFill>
                  <a:schemeClr val="accent4"/>
                </a:solidFill>
              </a:rPr>
              <a:t>W4–W12</a:t>
            </a:r>
            <a:endParaRPr lang="en-US" sz="1400" dirty="0"/>
          </a:p>
        </p:txBody>
      </p:sp>
      <p:sp>
        <p:nvSpPr>
          <p:cNvPr id="19" name="Text 16"/>
          <p:cNvSpPr txBox="1"/>
          <p:nvPr/>
        </p:nvSpPr>
        <p:spPr>
          <a:xfrm>
            <a:off x="3520440" y="4892040"/>
            <a:ext cx="2377440" cy="731520"/>
          </a:xfrm>
          <a:prstGeom prst="rect">
            <a:avLst/>
          </a:prstGeom>
          <a:noFill/>
          <a:ln/>
        </p:spPr>
        <p:txBody>
          <a:bodyPr wrap="square" lIns="0" tIns="0" rIns="0" bIns="0" rtlCol="0" anchor="t"/>
          <a:lstStyle/>
          <a:p>
            <a:pPr indent="0" marL="0">
              <a:buNone/>
            </a:pPr>
            <a:r>
              <a:rPr lang="en-US" sz="1400" dirty="0">
                <a:solidFill>
                  <a:schemeClr val="tx1"/>
                </a:solidFill>
              </a:rPr>
              <a:t>Named users, gain measured</a:t>
            </a:r>
            <a:endParaRPr lang="en-US" sz="1400" dirty="0"/>
          </a:p>
        </p:txBody>
      </p:sp>
      <p:sp>
        <p:nvSpPr>
          <p:cNvPr id="20" name="Shape 17"/>
          <p:cNvSpPr/>
          <p:nvPr/>
        </p:nvSpPr>
        <p:spPr>
          <a:xfrm>
            <a:off x="6355080" y="2286000"/>
            <a:ext cx="640080" cy="640080"/>
          </a:xfrm>
          <a:prstGeom prst="ellipse">
            <a:avLst/>
          </a:prstGeom>
          <a:solidFill>
            <a:schemeClr val="accent2"/>
          </a:solidFill>
          <a:ln/>
        </p:spPr>
      </p:sp>
      <p:sp>
        <p:nvSpPr>
          <p:cNvPr id="21" name="Text 18"/>
          <p:cNvSpPr txBox="1"/>
          <p:nvPr/>
        </p:nvSpPr>
        <p:spPr>
          <a:xfrm>
            <a:off x="6355080" y="22860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22" name="Shape 19"/>
          <p:cNvSpPr/>
          <p:nvPr/>
        </p:nvSpPr>
        <p:spPr>
          <a:xfrm>
            <a:off x="7132320" y="2606040"/>
            <a:ext cx="1920240" cy="0"/>
          </a:xfrm>
          <a:prstGeom prst="line">
            <a:avLst/>
          </a:prstGeom>
          <a:noFill/>
          <a:ln w="19050">
            <a:solidFill>
              <a:srgbClr val="D5DED7"/>
            </a:solidFill>
            <a:prstDash val="solid"/>
            <a:tailEnd type="triangle"/>
          </a:ln>
        </p:spPr>
      </p:sp>
      <p:sp>
        <p:nvSpPr>
          <p:cNvPr id="23" name="Text 20"/>
          <p:cNvSpPr txBox="1"/>
          <p:nvPr/>
        </p:nvSpPr>
        <p:spPr>
          <a:xfrm>
            <a:off x="6355080" y="3154680"/>
            <a:ext cx="2560320" cy="411480"/>
          </a:xfrm>
          <a:prstGeom prst="rect">
            <a:avLst/>
          </a:prstGeom>
          <a:noFill/>
          <a:ln/>
        </p:spPr>
        <p:txBody>
          <a:bodyPr wrap="square" lIns="0" tIns="0" rIns="0" bIns="0" rtlCol="0" anchor="t"/>
          <a:lstStyle/>
          <a:p>
            <a:pPr indent="0" marL="0">
              <a:buNone/>
            </a:pPr>
            <a:r>
              <a:rPr lang="en-US" sz="1800" b="1" dirty="0">
                <a:solidFill>
                  <a:schemeClr val="tx2"/>
                </a:solidFill>
              </a:rPr>
              <a:t>Scaling</a:t>
            </a:r>
            <a:endParaRPr lang="en-US" sz="1800" dirty="0"/>
          </a:p>
        </p:txBody>
      </p:sp>
      <p:sp>
        <p:nvSpPr>
          <p:cNvPr id="24" name="Text 21"/>
          <p:cNvSpPr txBox="1"/>
          <p:nvPr/>
        </p:nvSpPr>
        <p:spPr>
          <a:xfrm>
            <a:off x="6355080" y="3611880"/>
            <a:ext cx="2560320" cy="685800"/>
          </a:xfrm>
          <a:prstGeom prst="rect">
            <a:avLst/>
          </a:prstGeom>
          <a:noFill/>
          <a:ln/>
        </p:spPr>
        <p:txBody>
          <a:bodyPr wrap="square" lIns="0" tIns="0" rIns="0" bIns="0" rtlCol="0" anchor="t"/>
          <a:lstStyle/>
          <a:p>
            <a:pPr indent="0" marL="0">
              <a:buNone/>
            </a:pPr>
            <a:r>
              <a:rPr lang="en-US" sz="3200" b="1" dirty="0">
                <a:solidFill>
                  <a:schemeClr val="accent2"/>
                </a:solidFill>
              </a:rPr>
              <a:t>3–9 months</a:t>
            </a:r>
            <a:endParaRPr lang="en-US" sz="3200" dirty="0"/>
          </a:p>
        </p:txBody>
      </p:sp>
      <p:sp>
        <p:nvSpPr>
          <p:cNvPr id="25" name="Text 22"/>
          <p:cNvSpPr txBox="1"/>
          <p:nvPr/>
        </p:nvSpPr>
        <p:spPr>
          <a:xfrm>
            <a:off x="6355080" y="4343400"/>
            <a:ext cx="2560320" cy="320040"/>
          </a:xfrm>
          <a:prstGeom prst="rect">
            <a:avLst/>
          </a:prstGeom>
          <a:noFill/>
          <a:ln/>
        </p:spPr>
        <p:txBody>
          <a:bodyPr wrap="square" lIns="0" tIns="0" rIns="0" bIns="0" rtlCol="0" anchor="t"/>
          <a:lstStyle/>
          <a:p>
            <a:pPr indent="0" marL="0">
              <a:buNone/>
            </a:pPr>
            <a:r>
              <a:rPr lang="en-US" sz="1400" dirty="0">
                <a:solidFill>
                  <a:schemeClr val="accent4"/>
                </a:solidFill>
              </a:rPr>
              <a:t>M4–M12</a:t>
            </a:r>
            <a:endParaRPr lang="en-US" sz="1400" dirty="0"/>
          </a:p>
        </p:txBody>
      </p:sp>
      <p:sp>
        <p:nvSpPr>
          <p:cNvPr id="26" name="Text 23"/>
          <p:cNvSpPr txBox="1"/>
          <p:nvPr/>
        </p:nvSpPr>
        <p:spPr>
          <a:xfrm>
            <a:off x="6355080" y="4892040"/>
            <a:ext cx="2377440" cy="731520"/>
          </a:xfrm>
          <a:prstGeom prst="rect">
            <a:avLst/>
          </a:prstGeom>
          <a:noFill/>
          <a:ln/>
        </p:spPr>
        <p:txBody>
          <a:bodyPr wrap="square" lIns="0" tIns="0" rIns="0" bIns="0" rtlCol="0" anchor="t"/>
          <a:lstStyle/>
          <a:p>
            <a:pPr indent="0" marL="0">
              <a:buNone/>
            </a:pPr>
            <a:r>
              <a:rPr lang="en-US" sz="1400" dirty="0">
                <a:solidFill>
                  <a:schemeClr val="tx1"/>
                </a:solidFill>
              </a:rPr>
              <a:t>All lines, owned by IT</a:t>
            </a:r>
            <a:endParaRPr lang="en-US" sz="1400" dirty="0"/>
          </a:p>
        </p:txBody>
      </p:sp>
      <p:sp>
        <p:nvSpPr>
          <p:cNvPr id="27" name="Shape 24"/>
          <p:cNvSpPr/>
          <p:nvPr/>
        </p:nvSpPr>
        <p:spPr>
          <a:xfrm>
            <a:off x="9189720" y="2286000"/>
            <a:ext cx="640080" cy="640080"/>
          </a:xfrm>
          <a:prstGeom prst="ellipse">
            <a:avLst/>
          </a:prstGeom>
          <a:solidFill>
            <a:schemeClr val="accent2"/>
          </a:solidFill>
          <a:ln/>
        </p:spPr>
      </p:sp>
      <p:sp>
        <p:nvSpPr>
          <p:cNvPr id="28" name="Text 25"/>
          <p:cNvSpPr txBox="1"/>
          <p:nvPr/>
        </p:nvSpPr>
        <p:spPr>
          <a:xfrm>
            <a:off x="9189720" y="22860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9" name="Text 26"/>
          <p:cNvSpPr txBox="1"/>
          <p:nvPr/>
        </p:nvSpPr>
        <p:spPr>
          <a:xfrm>
            <a:off x="9189720" y="3154680"/>
            <a:ext cx="2560320" cy="411480"/>
          </a:xfrm>
          <a:prstGeom prst="rect">
            <a:avLst/>
          </a:prstGeom>
          <a:noFill/>
          <a:ln/>
        </p:spPr>
        <p:txBody>
          <a:bodyPr wrap="square" lIns="0" tIns="0" rIns="0" bIns="0" rtlCol="0" anchor="t"/>
          <a:lstStyle/>
          <a:p>
            <a:pPr indent="0" marL="0">
              <a:buNone/>
            </a:pPr>
            <a:r>
              <a:rPr lang="en-US" sz="1800" b="1" dirty="0">
                <a:solidFill>
                  <a:schemeClr val="tx2"/>
                </a:solidFill>
              </a:rPr>
              <a:t>Anchoring</a:t>
            </a:r>
            <a:endParaRPr lang="en-US" sz="1800" dirty="0"/>
          </a:p>
        </p:txBody>
      </p:sp>
      <p:sp>
        <p:nvSpPr>
          <p:cNvPr id="30" name="Text 27"/>
          <p:cNvSpPr txBox="1"/>
          <p:nvPr/>
        </p:nvSpPr>
        <p:spPr>
          <a:xfrm>
            <a:off x="9189720" y="3611880"/>
            <a:ext cx="2560320" cy="685800"/>
          </a:xfrm>
          <a:prstGeom prst="rect">
            <a:avLst/>
          </a:prstGeom>
          <a:noFill/>
          <a:ln/>
        </p:spPr>
        <p:txBody>
          <a:bodyPr wrap="square" lIns="0" tIns="0" rIns="0" bIns="0" rtlCol="0" anchor="t"/>
          <a:lstStyle/>
          <a:p>
            <a:pPr indent="0" marL="0">
              <a:buNone/>
            </a:pPr>
            <a:r>
              <a:rPr lang="en-US" sz="3200" b="1" dirty="0">
                <a:solidFill>
                  <a:schemeClr val="accent2"/>
                </a:solidFill>
              </a:rPr>
              <a:t>Ongoing</a:t>
            </a:r>
            <a:endParaRPr lang="en-US" sz="3200" dirty="0"/>
          </a:p>
        </p:txBody>
      </p:sp>
      <p:sp>
        <p:nvSpPr>
          <p:cNvPr id="31" name="Text 28"/>
          <p:cNvSpPr txBox="1"/>
          <p:nvPr/>
        </p:nvSpPr>
        <p:spPr>
          <a:xfrm>
            <a:off x="9189720" y="4343400"/>
            <a:ext cx="2560320" cy="320040"/>
          </a:xfrm>
          <a:prstGeom prst="rect">
            <a:avLst/>
          </a:prstGeom>
          <a:noFill/>
          <a:ln/>
        </p:spPr>
        <p:txBody>
          <a:bodyPr wrap="square" lIns="0" tIns="0" rIns="0" bIns="0" rtlCol="0" anchor="t"/>
          <a:lstStyle/>
          <a:p>
            <a:pPr indent="0" marL="0">
              <a:buNone/>
            </a:pPr>
            <a:r>
              <a:rPr lang="en-US" sz="1400" dirty="0">
                <a:solidFill>
                  <a:schemeClr val="accent4"/>
                </a:solidFill>
              </a:rPr>
              <a:t>Line by line</a:t>
            </a:r>
            <a:endParaRPr lang="en-US" sz="1400" dirty="0"/>
          </a:p>
        </p:txBody>
      </p:sp>
      <p:sp>
        <p:nvSpPr>
          <p:cNvPr id="32" name="Text 29"/>
          <p:cNvSpPr txBox="1"/>
          <p:nvPr/>
        </p:nvSpPr>
        <p:spPr>
          <a:xfrm>
            <a:off x="9189720" y="4892040"/>
            <a:ext cx="2377440" cy="731520"/>
          </a:xfrm>
          <a:prstGeom prst="rect">
            <a:avLst/>
          </a:prstGeom>
          <a:noFill/>
          <a:ln/>
        </p:spPr>
        <p:txBody>
          <a:bodyPr wrap="square" lIns="0" tIns="0" rIns="0" bIns="0" rtlCol="0" anchor="t"/>
          <a:lstStyle/>
          <a:p>
            <a:pPr indent="0" marL="0">
              <a:buNone/>
            </a:pPr>
            <a:r>
              <a:rPr lang="en-US" sz="1400" dirty="0">
                <a:solidFill>
                  <a:schemeClr val="tx1"/>
                </a:solidFill>
              </a:rPr>
              <a:t>Holds without us</a:t>
            </a:r>
            <a:endParaRPr lang="en-US" sz="14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3000" b="1" dirty="0">
                <a:solidFill>
                  <a:schemeClr val="tx2"/>
                </a:solidFill>
              </a:rPr>
              <a:t>4 projects in parallel, a go or stop every 4 weeks</a:t>
            </a:r>
            <a:endParaRPr lang="en-US" sz="3000" dirty="0"/>
          </a:p>
        </p:txBody>
      </p:sp>
      <p:sp>
        <p:nvSpPr>
          <p:cNvPr id="4" name="Text 1"/>
          <p:cNvSpPr txBox="1"/>
          <p:nvPr/>
        </p:nvSpPr>
        <p:spPr>
          <a:xfrm>
            <a:off x="3931920" y="1463040"/>
            <a:ext cx="640080" cy="274320"/>
          </a:xfrm>
          <a:prstGeom prst="rect">
            <a:avLst/>
          </a:prstGeom>
          <a:noFill/>
          <a:ln/>
        </p:spPr>
        <p:txBody>
          <a:bodyPr wrap="square" lIns="0" tIns="0" rIns="0" bIns="0" rtlCol="0" anchor="t"/>
          <a:lstStyle/>
          <a:p>
            <a:pPr algn="ctr" indent="0" marL="0">
              <a:buNone/>
            </a:pPr>
            <a:r>
              <a:rPr lang="en-US" sz="1100" dirty="0">
                <a:solidFill>
                  <a:schemeClr val="accent4"/>
                </a:solidFill>
              </a:rPr>
              <a:t>W1</a:t>
            </a:r>
            <a:endParaRPr lang="en-US" sz="1100" dirty="0"/>
          </a:p>
        </p:txBody>
      </p:sp>
      <p:sp>
        <p:nvSpPr>
          <p:cNvPr id="5" name="Text 2"/>
          <p:cNvSpPr txBox="1"/>
          <p:nvPr/>
        </p:nvSpPr>
        <p:spPr>
          <a:xfrm>
            <a:off x="4572000" y="1463040"/>
            <a:ext cx="640080" cy="274320"/>
          </a:xfrm>
          <a:prstGeom prst="rect">
            <a:avLst/>
          </a:prstGeom>
          <a:noFill/>
          <a:ln/>
        </p:spPr>
        <p:txBody>
          <a:bodyPr wrap="square" lIns="0" tIns="0" rIns="0" bIns="0" rtlCol="0" anchor="t"/>
          <a:lstStyle/>
          <a:p>
            <a:pPr algn="ctr" indent="0" marL="0">
              <a:buNone/>
            </a:pPr>
            <a:r>
              <a:rPr lang="en-US" sz="1100" dirty="0">
                <a:solidFill>
                  <a:schemeClr val="accent4"/>
                </a:solidFill>
              </a:rPr>
              <a:t>W2</a:t>
            </a:r>
            <a:endParaRPr lang="en-US" sz="1100" dirty="0"/>
          </a:p>
        </p:txBody>
      </p:sp>
      <p:sp>
        <p:nvSpPr>
          <p:cNvPr id="6" name="Text 3"/>
          <p:cNvSpPr txBox="1"/>
          <p:nvPr/>
        </p:nvSpPr>
        <p:spPr>
          <a:xfrm>
            <a:off x="5212080" y="1463040"/>
            <a:ext cx="640080" cy="274320"/>
          </a:xfrm>
          <a:prstGeom prst="rect">
            <a:avLst/>
          </a:prstGeom>
          <a:noFill/>
          <a:ln/>
        </p:spPr>
        <p:txBody>
          <a:bodyPr wrap="square" lIns="0" tIns="0" rIns="0" bIns="0" rtlCol="0" anchor="t"/>
          <a:lstStyle/>
          <a:p>
            <a:pPr algn="ctr" indent="0" marL="0">
              <a:buNone/>
            </a:pPr>
            <a:r>
              <a:rPr lang="en-US" sz="1100" dirty="0">
                <a:solidFill>
                  <a:schemeClr val="accent4"/>
                </a:solidFill>
              </a:rPr>
              <a:t>W3</a:t>
            </a:r>
            <a:endParaRPr lang="en-US" sz="1100" dirty="0"/>
          </a:p>
        </p:txBody>
      </p:sp>
      <p:sp>
        <p:nvSpPr>
          <p:cNvPr id="7" name="Text 4"/>
          <p:cNvSpPr txBox="1"/>
          <p:nvPr/>
        </p:nvSpPr>
        <p:spPr>
          <a:xfrm>
            <a:off x="5852160" y="1463040"/>
            <a:ext cx="640080" cy="274320"/>
          </a:xfrm>
          <a:prstGeom prst="rect">
            <a:avLst/>
          </a:prstGeom>
          <a:noFill/>
          <a:ln/>
        </p:spPr>
        <p:txBody>
          <a:bodyPr wrap="square" lIns="0" tIns="0" rIns="0" bIns="0" rtlCol="0" anchor="t"/>
          <a:lstStyle/>
          <a:p>
            <a:pPr algn="ctr" indent="0" marL="0">
              <a:buNone/>
            </a:pPr>
            <a:r>
              <a:rPr lang="en-US" sz="1100" dirty="0">
                <a:solidFill>
                  <a:schemeClr val="accent4"/>
                </a:solidFill>
              </a:rPr>
              <a:t>W4</a:t>
            </a:r>
            <a:endParaRPr lang="en-US" sz="1100" dirty="0"/>
          </a:p>
        </p:txBody>
      </p:sp>
      <p:sp>
        <p:nvSpPr>
          <p:cNvPr id="8" name="Text 5"/>
          <p:cNvSpPr txBox="1"/>
          <p:nvPr/>
        </p:nvSpPr>
        <p:spPr>
          <a:xfrm>
            <a:off x="6492240" y="1463040"/>
            <a:ext cx="640080" cy="274320"/>
          </a:xfrm>
          <a:prstGeom prst="rect">
            <a:avLst/>
          </a:prstGeom>
          <a:noFill/>
          <a:ln/>
        </p:spPr>
        <p:txBody>
          <a:bodyPr wrap="square" lIns="0" tIns="0" rIns="0" bIns="0" rtlCol="0" anchor="t"/>
          <a:lstStyle/>
          <a:p>
            <a:pPr algn="ctr" indent="0" marL="0">
              <a:buNone/>
            </a:pPr>
            <a:r>
              <a:rPr lang="en-US" sz="1100" dirty="0">
                <a:solidFill>
                  <a:schemeClr val="accent4"/>
                </a:solidFill>
              </a:rPr>
              <a:t>W5</a:t>
            </a:r>
            <a:endParaRPr lang="en-US" sz="1100" dirty="0"/>
          </a:p>
        </p:txBody>
      </p:sp>
      <p:sp>
        <p:nvSpPr>
          <p:cNvPr id="9" name="Text 6"/>
          <p:cNvSpPr txBox="1"/>
          <p:nvPr/>
        </p:nvSpPr>
        <p:spPr>
          <a:xfrm>
            <a:off x="7132320" y="1463040"/>
            <a:ext cx="640080" cy="274320"/>
          </a:xfrm>
          <a:prstGeom prst="rect">
            <a:avLst/>
          </a:prstGeom>
          <a:noFill/>
          <a:ln/>
        </p:spPr>
        <p:txBody>
          <a:bodyPr wrap="square" lIns="0" tIns="0" rIns="0" bIns="0" rtlCol="0" anchor="t"/>
          <a:lstStyle/>
          <a:p>
            <a:pPr algn="ctr" indent="0" marL="0">
              <a:buNone/>
            </a:pPr>
            <a:r>
              <a:rPr lang="en-US" sz="1100" dirty="0">
                <a:solidFill>
                  <a:schemeClr val="accent4"/>
                </a:solidFill>
              </a:rPr>
              <a:t>W6</a:t>
            </a:r>
            <a:endParaRPr lang="en-US" sz="1100" dirty="0"/>
          </a:p>
        </p:txBody>
      </p:sp>
      <p:sp>
        <p:nvSpPr>
          <p:cNvPr id="10" name="Text 7"/>
          <p:cNvSpPr txBox="1"/>
          <p:nvPr/>
        </p:nvSpPr>
        <p:spPr>
          <a:xfrm>
            <a:off x="7772400" y="1463040"/>
            <a:ext cx="640080" cy="274320"/>
          </a:xfrm>
          <a:prstGeom prst="rect">
            <a:avLst/>
          </a:prstGeom>
          <a:noFill/>
          <a:ln/>
        </p:spPr>
        <p:txBody>
          <a:bodyPr wrap="square" lIns="0" tIns="0" rIns="0" bIns="0" rtlCol="0" anchor="t"/>
          <a:lstStyle/>
          <a:p>
            <a:pPr algn="ctr" indent="0" marL="0">
              <a:buNone/>
            </a:pPr>
            <a:r>
              <a:rPr lang="en-US" sz="1100" dirty="0">
                <a:solidFill>
                  <a:schemeClr val="accent4"/>
                </a:solidFill>
              </a:rPr>
              <a:t>W7</a:t>
            </a:r>
            <a:endParaRPr lang="en-US" sz="1100" dirty="0"/>
          </a:p>
        </p:txBody>
      </p:sp>
      <p:sp>
        <p:nvSpPr>
          <p:cNvPr id="11" name="Text 8"/>
          <p:cNvSpPr txBox="1"/>
          <p:nvPr/>
        </p:nvSpPr>
        <p:spPr>
          <a:xfrm>
            <a:off x="8412480" y="1463040"/>
            <a:ext cx="640080" cy="274320"/>
          </a:xfrm>
          <a:prstGeom prst="rect">
            <a:avLst/>
          </a:prstGeom>
          <a:noFill/>
          <a:ln/>
        </p:spPr>
        <p:txBody>
          <a:bodyPr wrap="square" lIns="0" tIns="0" rIns="0" bIns="0" rtlCol="0" anchor="t"/>
          <a:lstStyle/>
          <a:p>
            <a:pPr algn="ctr" indent="0" marL="0">
              <a:buNone/>
            </a:pPr>
            <a:r>
              <a:rPr lang="en-US" sz="1100" dirty="0">
                <a:solidFill>
                  <a:schemeClr val="accent4"/>
                </a:solidFill>
              </a:rPr>
              <a:t>W8</a:t>
            </a:r>
            <a:endParaRPr lang="en-US" sz="1100" dirty="0"/>
          </a:p>
        </p:txBody>
      </p:sp>
      <p:sp>
        <p:nvSpPr>
          <p:cNvPr id="12" name="Text 9"/>
          <p:cNvSpPr txBox="1"/>
          <p:nvPr/>
        </p:nvSpPr>
        <p:spPr>
          <a:xfrm>
            <a:off x="9052560" y="1463040"/>
            <a:ext cx="640080" cy="274320"/>
          </a:xfrm>
          <a:prstGeom prst="rect">
            <a:avLst/>
          </a:prstGeom>
          <a:noFill/>
          <a:ln/>
        </p:spPr>
        <p:txBody>
          <a:bodyPr wrap="square" lIns="0" tIns="0" rIns="0" bIns="0" rtlCol="0" anchor="t"/>
          <a:lstStyle/>
          <a:p>
            <a:pPr algn="ctr" indent="0" marL="0">
              <a:buNone/>
            </a:pPr>
            <a:r>
              <a:rPr lang="en-US" sz="1100" dirty="0">
                <a:solidFill>
                  <a:schemeClr val="accent4"/>
                </a:solidFill>
              </a:rPr>
              <a:t>W9</a:t>
            </a:r>
            <a:endParaRPr lang="en-US" sz="1100" dirty="0"/>
          </a:p>
        </p:txBody>
      </p:sp>
      <p:sp>
        <p:nvSpPr>
          <p:cNvPr id="13" name="Text 10"/>
          <p:cNvSpPr txBox="1"/>
          <p:nvPr/>
        </p:nvSpPr>
        <p:spPr>
          <a:xfrm>
            <a:off x="9692640" y="1463040"/>
            <a:ext cx="640080" cy="274320"/>
          </a:xfrm>
          <a:prstGeom prst="rect">
            <a:avLst/>
          </a:prstGeom>
          <a:noFill/>
          <a:ln/>
        </p:spPr>
        <p:txBody>
          <a:bodyPr wrap="square" lIns="0" tIns="0" rIns="0" bIns="0" rtlCol="0" anchor="t"/>
          <a:lstStyle/>
          <a:p>
            <a:pPr algn="ctr" indent="0" marL="0">
              <a:buNone/>
            </a:pPr>
            <a:r>
              <a:rPr lang="en-US" sz="1100" dirty="0">
                <a:solidFill>
                  <a:schemeClr val="accent4"/>
                </a:solidFill>
              </a:rPr>
              <a:t>W10</a:t>
            </a:r>
            <a:endParaRPr lang="en-US" sz="1100" dirty="0"/>
          </a:p>
        </p:txBody>
      </p:sp>
      <p:sp>
        <p:nvSpPr>
          <p:cNvPr id="14" name="Text 11"/>
          <p:cNvSpPr txBox="1"/>
          <p:nvPr/>
        </p:nvSpPr>
        <p:spPr>
          <a:xfrm>
            <a:off x="10332720" y="1463040"/>
            <a:ext cx="640080" cy="274320"/>
          </a:xfrm>
          <a:prstGeom prst="rect">
            <a:avLst/>
          </a:prstGeom>
          <a:noFill/>
          <a:ln/>
        </p:spPr>
        <p:txBody>
          <a:bodyPr wrap="square" lIns="0" tIns="0" rIns="0" bIns="0" rtlCol="0" anchor="t"/>
          <a:lstStyle/>
          <a:p>
            <a:pPr algn="ctr" indent="0" marL="0">
              <a:buNone/>
            </a:pPr>
            <a:r>
              <a:rPr lang="en-US" sz="1100" dirty="0">
                <a:solidFill>
                  <a:schemeClr val="accent4"/>
                </a:solidFill>
              </a:rPr>
              <a:t>W11</a:t>
            </a:r>
            <a:endParaRPr lang="en-US" sz="1100" dirty="0"/>
          </a:p>
        </p:txBody>
      </p:sp>
      <p:sp>
        <p:nvSpPr>
          <p:cNvPr id="15" name="Text 12"/>
          <p:cNvSpPr txBox="1"/>
          <p:nvPr/>
        </p:nvSpPr>
        <p:spPr>
          <a:xfrm>
            <a:off x="10972800" y="1463040"/>
            <a:ext cx="640080" cy="274320"/>
          </a:xfrm>
          <a:prstGeom prst="rect">
            <a:avLst/>
          </a:prstGeom>
          <a:noFill/>
          <a:ln/>
        </p:spPr>
        <p:txBody>
          <a:bodyPr wrap="square" lIns="0" tIns="0" rIns="0" bIns="0" rtlCol="0" anchor="t"/>
          <a:lstStyle/>
          <a:p>
            <a:pPr algn="ctr" indent="0" marL="0">
              <a:buNone/>
            </a:pPr>
            <a:r>
              <a:rPr lang="en-US" sz="1100" dirty="0">
                <a:solidFill>
                  <a:schemeClr val="accent4"/>
                </a:solidFill>
              </a:rPr>
              <a:t>W12</a:t>
            </a:r>
            <a:endParaRPr lang="en-US" sz="1100" dirty="0"/>
          </a:p>
        </p:txBody>
      </p:sp>
      <p:sp>
        <p:nvSpPr>
          <p:cNvPr id="16" name="Text 13"/>
          <p:cNvSpPr txBox="1"/>
          <p:nvPr/>
        </p:nvSpPr>
        <p:spPr>
          <a:xfrm>
            <a:off x="548640" y="1920240"/>
            <a:ext cx="3200400" cy="320040"/>
          </a:xfrm>
          <a:prstGeom prst="rect">
            <a:avLst/>
          </a:prstGeom>
          <a:noFill/>
          <a:ln/>
        </p:spPr>
        <p:txBody>
          <a:bodyPr wrap="square" lIns="0" tIns="0" rIns="0" bIns="0" rtlCol="0" anchor="t"/>
          <a:lstStyle/>
          <a:p>
            <a:pPr indent="0" marL="0">
              <a:buNone/>
            </a:pPr>
            <a:r>
              <a:rPr lang="en-US" sz="1600" b="1" dirty="0">
                <a:solidFill>
                  <a:schemeClr val="tx2"/>
                </a:solidFill>
              </a:rPr>
              <a:t>Scheduling</a:t>
            </a:r>
            <a:endParaRPr lang="en-US" sz="1600" dirty="0"/>
          </a:p>
        </p:txBody>
      </p:sp>
      <p:sp>
        <p:nvSpPr>
          <p:cNvPr id="17" name="Text 14"/>
          <p:cNvSpPr txBox="1"/>
          <p:nvPr/>
        </p:nvSpPr>
        <p:spPr>
          <a:xfrm>
            <a:off x="548640" y="2258568"/>
            <a:ext cx="3200400" cy="274320"/>
          </a:xfrm>
          <a:prstGeom prst="rect">
            <a:avLst/>
          </a:prstGeom>
          <a:noFill/>
          <a:ln/>
        </p:spPr>
        <p:txBody>
          <a:bodyPr wrap="square" lIns="0" tIns="0" rIns="0" bIns="0" rtlCol="0" anchor="t"/>
          <a:lstStyle/>
          <a:p>
            <a:pPr indent="0" marL="0">
              <a:buNone/>
            </a:pPr>
            <a:r>
              <a:rPr lang="en-US" sz="1200" b="1" dirty="0">
                <a:solidFill>
                  <a:schemeClr val="accent2"/>
                </a:solidFill>
              </a:rPr>
              <a:t>Capacity: direct</a:t>
            </a:r>
            <a:endParaRPr lang="en-US" sz="1200" dirty="0"/>
          </a:p>
        </p:txBody>
      </p:sp>
      <p:sp>
        <p:nvSpPr>
          <p:cNvPr id="18" name="Shape 15"/>
          <p:cNvSpPr/>
          <p:nvPr/>
        </p:nvSpPr>
        <p:spPr>
          <a:xfrm>
            <a:off x="3968496" y="1984248"/>
            <a:ext cx="2487168" cy="457200"/>
          </a:xfrm>
          <a:prstGeom prst="roundRect">
            <a:avLst>
              <a:gd name="adj" fmla="val 16000"/>
            </a:avLst>
          </a:prstGeom>
          <a:solidFill>
            <a:schemeClr val="bg2"/>
          </a:solidFill>
          <a:ln/>
        </p:spPr>
      </p:sp>
      <p:sp>
        <p:nvSpPr>
          <p:cNvPr id="19" name="Text 16"/>
          <p:cNvSpPr txBox="1"/>
          <p:nvPr/>
        </p:nvSpPr>
        <p:spPr>
          <a:xfrm>
            <a:off x="3968496" y="1984248"/>
            <a:ext cx="2487168" cy="457200"/>
          </a:xfrm>
          <a:prstGeom prst="rect">
            <a:avLst/>
          </a:prstGeom>
          <a:noFill/>
          <a:ln/>
        </p:spPr>
        <p:txBody>
          <a:bodyPr wrap="square" lIns="0" tIns="0" rIns="0" bIns="0" rtlCol="0" anchor="ctr"/>
          <a:lstStyle/>
          <a:p>
            <a:pPr algn="ctr" indent="0" marL="0">
              <a:buNone/>
            </a:pPr>
            <a:r>
              <a:rPr lang="en-US" sz="1200" dirty="0">
                <a:solidFill>
                  <a:schemeClr val="tx2"/>
                </a:solidFill>
              </a:rPr>
              <a:t>Diagnosis</a:t>
            </a:r>
            <a:endParaRPr lang="en-US" sz="1200" dirty="0"/>
          </a:p>
        </p:txBody>
      </p:sp>
      <p:sp>
        <p:nvSpPr>
          <p:cNvPr id="20" name="Shape 17"/>
          <p:cNvSpPr/>
          <p:nvPr/>
        </p:nvSpPr>
        <p:spPr>
          <a:xfrm>
            <a:off x="6528816" y="1984248"/>
            <a:ext cx="3127248" cy="457200"/>
          </a:xfrm>
          <a:prstGeom prst="roundRect">
            <a:avLst>
              <a:gd name="adj" fmla="val 16000"/>
            </a:avLst>
          </a:prstGeom>
          <a:solidFill>
            <a:schemeClr val="accent1"/>
          </a:solidFill>
          <a:ln/>
        </p:spPr>
      </p:sp>
      <p:sp>
        <p:nvSpPr>
          <p:cNvPr id="21" name="Text 18"/>
          <p:cNvSpPr txBox="1"/>
          <p:nvPr/>
        </p:nvSpPr>
        <p:spPr>
          <a:xfrm>
            <a:off x="6665976" y="1984248"/>
            <a:ext cx="1645920" cy="457200"/>
          </a:xfrm>
          <a:prstGeom prst="rect">
            <a:avLst/>
          </a:prstGeom>
          <a:noFill/>
          <a:ln/>
        </p:spPr>
        <p:txBody>
          <a:bodyPr wrap="square" lIns="0" tIns="0" rIns="0" bIns="0" rtlCol="0" anchor="ctr"/>
          <a:lstStyle/>
          <a:p>
            <a:pPr indent="0" marL="0">
              <a:buNone/>
            </a:pPr>
            <a:r>
              <a:rPr lang="en-US" sz="1200" b="1" dirty="0">
                <a:solidFill>
                  <a:schemeClr val="bg1"/>
                </a:solidFill>
              </a:rPr>
              <a:t>Tech proof</a:t>
            </a:r>
            <a:endParaRPr lang="en-US" sz="1200" dirty="0"/>
          </a:p>
        </p:txBody>
      </p:sp>
      <p:sp>
        <p:nvSpPr>
          <p:cNvPr id="22" name="Shape 19"/>
          <p:cNvSpPr/>
          <p:nvPr/>
        </p:nvSpPr>
        <p:spPr>
          <a:xfrm>
            <a:off x="548640" y="2633472"/>
            <a:ext cx="11064240" cy="0"/>
          </a:xfrm>
          <a:prstGeom prst="line">
            <a:avLst/>
          </a:prstGeom>
          <a:noFill/>
          <a:ln w="9525">
            <a:solidFill>
              <a:srgbClr val="D5DED7"/>
            </a:solidFill>
            <a:prstDash val="solid"/>
          </a:ln>
        </p:spPr>
      </p:sp>
      <p:sp>
        <p:nvSpPr>
          <p:cNvPr id="23" name="Text 20"/>
          <p:cNvSpPr txBox="1"/>
          <p:nvPr/>
        </p:nvSpPr>
        <p:spPr>
          <a:xfrm>
            <a:off x="548640" y="27889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Product quality</a:t>
            </a:r>
            <a:endParaRPr lang="en-US" sz="1600" dirty="0"/>
          </a:p>
        </p:txBody>
      </p:sp>
      <p:sp>
        <p:nvSpPr>
          <p:cNvPr id="24" name="Text 21"/>
          <p:cNvSpPr txBox="1"/>
          <p:nvPr/>
        </p:nvSpPr>
        <p:spPr>
          <a:xfrm>
            <a:off x="548640" y="3127248"/>
            <a:ext cx="3200400" cy="274320"/>
          </a:xfrm>
          <a:prstGeom prst="rect">
            <a:avLst/>
          </a:prstGeom>
          <a:noFill/>
          <a:ln/>
        </p:spPr>
        <p:txBody>
          <a:bodyPr wrap="square" lIns="0" tIns="0" rIns="0" bIns="0" rtlCol="0" anchor="t"/>
          <a:lstStyle/>
          <a:p>
            <a:pPr indent="0" marL="0">
              <a:buNone/>
            </a:pPr>
            <a:r>
              <a:rPr lang="en-US" sz="1200" b="1" dirty="0">
                <a:solidFill>
                  <a:schemeClr val="accent2"/>
                </a:solidFill>
              </a:rPr>
              <a:t>Capacity: direct</a:t>
            </a:r>
            <a:endParaRPr lang="en-US" sz="1200" dirty="0"/>
          </a:p>
        </p:txBody>
      </p:sp>
      <p:sp>
        <p:nvSpPr>
          <p:cNvPr id="25" name="Shape 22"/>
          <p:cNvSpPr/>
          <p:nvPr/>
        </p:nvSpPr>
        <p:spPr>
          <a:xfrm>
            <a:off x="3968496" y="2852928"/>
            <a:ext cx="2487168" cy="457200"/>
          </a:xfrm>
          <a:prstGeom prst="roundRect">
            <a:avLst>
              <a:gd name="adj" fmla="val 16000"/>
            </a:avLst>
          </a:prstGeom>
          <a:solidFill>
            <a:schemeClr val="bg2"/>
          </a:solidFill>
          <a:ln/>
        </p:spPr>
      </p:sp>
      <p:sp>
        <p:nvSpPr>
          <p:cNvPr id="26" name="Text 23"/>
          <p:cNvSpPr txBox="1"/>
          <p:nvPr/>
        </p:nvSpPr>
        <p:spPr>
          <a:xfrm>
            <a:off x="3968496" y="2852928"/>
            <a:ext cx="2487168" cy="457200"/>
          </a:xfrm>
          <a:prstGeom prst="rect">
            <a:avLst/>
          </a:prstGeom>
          <a:noFill/>
          <a:ln/>
        </p:spPr>
        <p:txBody>
          <a:bodyPr wrap="square" lIns="0" tIns="0" rIns="0" bIns="0" rtlCol="0" anchor="ctr"/>
          <a:lstStyle/>
          <a:p>
            <a:pPr algn="ctr" indent="0" marL="0">
              <a:buNone/>
            </a:pPr>
            <a:r>
              <a:rPr lang="en-US" sz="1200" dirty="0">
                <a:solidFill>
                  <a:schemeClr val="tx2"/>
                </a:solidFill>
              </a:rPr>
              <a:t>Diagnosis</a:t>
            </a:r>
            <a:endParaRPr lang="en-US" sz="1200" dirty="0"/>
          </a:p>
        </p:txBody>
      </p:sp>
      <p:sp>
        <p:nvSpPr>
          <p:cNvPr id="27" name="Shape 24"/>
          <p:cNvSpPr/>
          <p:nvPr/>
        </p:nvSpPr>
        <p:spPr>
          <a:xfrm>
            <a:off x="6528816" y="2852928"/>
            <a:ext cx="5047488" cy="457200"/>
          </a:xfrm>
          <a:prstGeom prst="roundRect">
            <a:avLst>
              <a:gd name="adj" fmla="val 16000"/>
            </a:avLst>
          </a:prstGeom>
          <a:solidFill>
            <a:schemeClr val="accent1"/>
          </a:solidFill>
          <a:ln/>
        </p:spPr>
      </p:sp>
      <p:sp>
        <p:nvSpPr>
          <p:cNvPr id="28" name="Text 25"/>
          <p:cNvSpPr txBox="1"/>
          <p:nvPr/>
        </p:nvSpPr>
        <p:spPr>
          <a:xfrm>
            <a:off x="6665976" y="2852928"/>
            <a:ext cx="1645920" cy="457200"/>
          </a:xfrm>
          <a:prstGeom prst="rect">
            <a:avLst/>
          </a:prstGeom>
          <a:noFill/>
          <a:ln/>
        </p:spPr>
        <p:txBody>
          <a:bodyPr wrap="square" lIns="0" tIns="0" rIns="0" bIns="0" rtlCol="0" anchor="ctr"/>
          <a:lstStyle/>
          <a:p>
            <a:pPr indent="0" marL="0">
              <a:buNone/>
            </a:pPr>
            <a:r>
              <a:rPr lang="en-US" sz="1200" b="1" dirty="0">
                <a:solidFill>
                  <a:schemeClr val="bg1"/>
                </a:solidFill>
              </a:rPr>
              <a:t>Tech proof</a:t>
            </a:r>
            <a:endParaRPr lang="en-US" sz="1200" dirty="0"/>
          </a:p>
        </p:txBody>
      </p:sp>
      <p:sp>
        <p:nvSpPr>
          <p:cNvPr id="29" name="Shape 26"/>
          <p:cNvSpPr/>
          <p:nvPr/>
        </p:nvSpPr>
        <p:spPr>
          <a:xfrm>
            <a:off x="548640" y="3502152"/>
            <a:ext cx="11064240" cy="0"/>
          </a:xfrm>
          <a:prstGeom prst="line">
            <a:avLst/>
          </a:prstGeom>
          <a:noFill/>
          <a:ln w="9525">
            <a:solidFill>
              <a:srgbClr val="D5DED7"/>
            </a:solidFill>
            <a:prstDash val="solid"/>
          </a:ln>
        </p:spPr>
      </p:sp>
      <p:sp>
        <p:nvSpPr>
          <p:cNvPr id="30" name="Text 27"/>
          <p:cNvSpPr txBox="1"/>
          <p:nvPr/>
        </p:nvSpPr>
        <p:spPr>
          <a:xfrm>
            <a:off x="548640" y="3657600"/>
            <a:ext cx="3200400" cy="320040"/>
          </a:xfrm>
          <a:prstGeom prst="rect">
            <a:avLst/>
          </a:prstGeom>
          <a:noFill/>
          <a:ln/>
        </p:spPr>
        <p:txBody>
          <a:bodyPr wrap="square" lIns="0" tIns="0" rIns="0" bIns="0" rtlCol="0" anchor="t"/>
          <a:lstStyle/>
          <a:p>
            <a:pPr indent="0" marL="0">
              <a:buNone/>
            </a:pPr>
            <a:r>
              <a:rPr lang="en-US" sz="1600" b="1" dirty="0">
                <a:solidFill>
                  <a:schemeClr val="tx2"/>
                </a:solidFill>
              </a:rPr>
              <a:t>Quality release</a:t>
            </a:r>
            <a:endParaRPr lang="en-US" sz="1600" dirty="0"/>
          </a:p>
        </p:txBody>
      </p:sp>
      <p:sp>
        <p:nvSpPr>
          <p:cNvPr id="31" name="Text 28"/>
          <p:cNvSpPr txBox="1"/>
          <p:nvPr/>
        </p:nvSpPr>
        <p:spPr>
          <a:xfrm>
            <a:off x="548640" y="3995928"/>
            <a:ext cx="3200400" cy="274320"/>
          </a:xfrm>
          <a:prstGeom prst="rect">
            <a:avLst/>
          </a:prstGeom>
          <a:noFill/>
          <a:ln/>
        </p:spPr>
        <p:txBody>
          <a:bodyPr wrap="square" lIns="0" tIns="0" rIns="0" bIns="0" rtlCol="0" anchor="t"/>
          <a:lstStyle/>
          <a:p>
            <a:pPr indent="0" marL="0">
              <a:buNone/>
            </a:pPr>
            <a:r>
              <a:rPr lang="en-US" sz="1200" dirty="0">
                <a:solidFill>
                  <a:schemeClr val="accent4"/>
                </a:solidFill>
              </a:rPr>
              <a:t>Cash and service</a:t>
            </a:r>
            <a:endParaRPr lang="en-US" sz="1200" dirty="0"/>
          </a:p>
        </p:txBody>
      </p:sp>
      <p:sp>
        <p:nvSpPr>
          <p:cNvPr id="32" name="Shape 29"/>
          <p:cNvSpPr/>
          <p:nvPr/>
        </p:nvSpPr>
        <p:spPr>
          <a:xfrm>
            <a:off x="3968496" y="3721608"/>
            <a:ext cx="2487168" cy="457200"/>
          </a:xfrm>
          <a:prstGeom prst="roundRect">
            <a:avLst>
              <a:gd name="adj" fmla="val 16000"/>
            </a:avLst>
          </a:prstGeom>
          <a:solidFill>
            <a:schemeClr val="bg2"/>
          </a:solidFill>
          <a:ln/>
        </p:spPr>
      </p:sp>
      <p:sp>
        <p:nvSpPr>
          <p:cNvPr id="33" name="Text 30"/>
          <p:cNvSpPr txBox="1"/>
          <p:nvPr/>
        </p:nvSpPr>
        <p:spPr>
          <a:xfrm>
            <a:off x="3968496" y="3721608"/>
            <a:ext cx="2487168" cy="457200"/>
          </a:xfrm>
          <a:prstGeom prst="rect">
            <a:avLst/>
          </a:prstGeom>
          <a:noFill/>
          <a:ln/>
        </p:spPr>
        <p:txBody>
          <a:bodyPr wrap="square" lIns="0" tIns="0" rIns="0" bIns="0" rtlCol="0" anchor="ctr"/>
          <a:lstStyle/>
          <a:p>
            <a:pPr algn="ctr" indent="0" marL="0">
              <a:buNone/>
            </a:pPr>
            <a:r>
              <a:rPr lang="en-US" sz="1200" dirty="0">
                <a:solidFill>
                  <a:schemeClr val="tx2"/>
                </a:solidFill>
              </a:rPr>
              <a:t>Diagnosis</a:t>
            </a:r>
            <a:endParaRPr lang="en-US" sz="1200" dirty="0"/>
          </a:p>
        </p:txBody>
      </p:sp>
      <p:sp>
        <p:nvSpPr>
          <p:cNvPr id="34" name="Shape 31"/>
          <p:cNvSpPr/>
          <p:nvPr/>
        </p:nvSpPr>
        <p:spPr>
          <a:xfrm>
            <a:off x="6528816" y="3721608"/>
            <a:ext cx="5047488" cy="457200"/>
          </a:xfrm>
          <a:prstGeom prst="roundRect">
            <a:avLst>
              <a:gd name="adj" fmla="val 16000"/>
            </a:avLst>
          </a:prstGeom>
          <a:solidFill>
            <a:schemeClr val="accent1"/>
          </a:solidFill>
          <a:ln/>
        </p:spPr>
      </p:sp>
      <p:sp>
        <p:nvSpPr>
          <p:cNvPr id="35" name="Text 32"/>
          <p:cNvSpPr txBox="1"/>
          <p:nvPr/>
        </p:nvSpPr>
        <p:spPr>
          <a:xfrm>
            <a:off x="6665976" y="3721608"/>
            <a:ext cx="1645920" cy="457200"/>
          </a:xfrm>
          <a:prstGeom prst="rect">
            <a:avLst/>
          </a:prstGeom>
          <a:noFill/>
          <a:ln/>
        </p:spPr>
        <p:txBody>
          <a:bodyPr wrap="square" lIns="0" tIns="0" rIns="0" bIns="0" rtlCol="0" anchor="ctr"/>
          <a:lstStyle/>
          <a:p>
            <a:pPr indent="0" marL="0">
              <a:buNone/>
            </a:pPr>
            <a:r>
              <a:rPr lang="en-US" sz="1200" b="1" dirty="0">
                <a:solidFill>
                  <a:schemeClr val="bg1"/>
                </a:solidFill>
              </a:rPr>
              <a:t>Tech proof</a:t>
            </a:r>
            <a:endParaRPr lang="en-US" sz="1200" dirty="0"/>
          </a:p>
        </p:txBody>
      </p:sp>
      <p:sp>
        <p:nvSpPr>
          <p:cNvPr id="36" name="Shape 33"/>
          <p:cNvSpPr/>
          <p:nvPr/>
        </p:nvSpPr>
        <p:spPr>
          <a:xfrm>
            <a:off x="548640" y="4370832"/>
            <a:ext cx="11064240" cy="0"/>
          </a:xfrm>
          <a:prstGeom prst="line">
            <a:avLst/>
          </a:prstGeom>
          <a:noFill/>
          <a:ln w="9525">
            <a:solidFill>
              <a:srgbClr val="D5DED7"/>
            </a:solidFill>
            <a:prstDash val="solid"/>
          </a:ln>
        </p:spPr>
      </p:sp>
      <p:sp>
        <p:nvSpPr>
          <p:cNvPr id="37" name="Text 34"/>
          <p:cNvSpPr txBox="1"/>
          <p:nvPr/>
        </p:nvSpPr>
        <p:spPr>
          <a:xfrm>
            <a:off x="548640" y="4526280"/>
            <a:ext cx="3200400" cy="320040"/>
          </a:xfrm>
          <a:prstGeom prst="rect">
            <a:avLst/>
          </a:prstGeom>
          <a:noFill/>
          <a:ln/>
        </p:spPr>
        <p:txBody>
          <a:bodyPr wrap="square" lIns="0" tIns="0" rIns="0" bIns="0" rtlCol="0" anchor="t"/>
          <a:lstStyle/>
          <a:p>
            <a:pPr indent="0" marL="0">
              <a:buNone/>
            </a:pPr>
            <a:r>
              <a:rPr lang="en-US" sz="1600" b="1" dirty="0">
                <a:solidFill>
                  <a:schemeClr val="tx2"/>
                </a:solidFill>
              </a:rPr>
              <a:t>Time to market</a:t>
            </a:r>
            <a:endParaRPr lang="en-US" sz="1600" dirty="0"/>
          </a:p>
        </p:txBody>
      </p:sp>
      <p:sp>
        <p:nvSpPr>
          <p:cNvPr id="38" name="Text 35"/>
          <p:cNvSpPr txBox="1"/>
          <p:nvPr/>
        </p:nvSpPr>
        <p:spPr>
          <a:xfrm>
            <a:off x="548640" y="4864608"/>
            <a:ext cx="3200400" cy="274320"/>
          </a:xfrm>
          <a:prstGeom prst="rect">
            <a:avLst/>
          </a:prstGeom>
          <a:noFill/>
          <a:ln/>
        </p:spPr>
        <p:txBody>
          <a:bodyPr wrap="square" lIns="0" tIns="0" rIns="0" bIns="0" rtlCol="0" anchor="t"/>
          <a:lstStyle/>
          <a:p>
            <a:pPr indent="0" marL="0">
              <a:buNone/>
            </a:pPr>
            <a:r>
              <a:rPr lang="en-US" sz="1200" dirty="0">
                <a:solidFill>
                  <a:schemeClr val="accent4"/>
                </a:solidFill>
              </a:rPr>
              <a:t>Growth</a:t>
            </a:r>
            <a:endParaRPr lang="en-US" sz="1200" dirty="0"/>
          </a:p>
        </p:txBody>
      </p:sp>
      <p:sp>
        <p:nvSpPr>
          <p:cNvPr id="39" name="Shape 36"/>
          <p:cNvSpPr/>
          <p:nvPr/>
        </p:nvSpPr>
        <p:spPr>
          <a:xfrm>
            <a:off x="3968496" y="4590288"/>
            <a:ext cx="2487168" cy="457200"/>
          </a:xfrm>
          <a:prstGeom prst="roundRect">
            <a:avLst>
              <a:gd name="adj" fmla="val 16000"/>
            </a:avLst>
          </a:prstGeom>
          <a:solidFill>
            <a:schemeClr val="bg2"/>
          </a:solidFill>
          <a:ln/>
        </p:spPr>
      </p:sp>
      <p:sp>
        <p:nvSpPr>
          <p:cNvPr id="40" name="Text 37"/>
          <p:cNvSpPr txBox="1"/>
          <p:nvPr/>
        </p:nvSpPr>
        <p:spPr>
          <a:xfrm>
            <a:off x="3968496" y="4590288"/>
            <a:ext cx="2487168" cy="457200"/>
          </a:xfrm>
          <a:prstGeom prst="rect">
            <a:avLst/>
          </a:prstGeom>
          <a:noFill/>
          <a:ln/>
        </p:spPr>
        <p:txBody>
          <a:bodyPr wrap="square" lIns="0" tIns="0" rIns="0" bIns="0" rtlCol="0" anchor="ctr"/>
          <a:lstStyle/>
          <a:p>
            <a:pPr algn="ctr" indent="0" marL="0">
              <a:buNone/>
            </a:pPr>
            <a:r>
              <a:rPr lang="en-US" sz="1200" dirty="0">
                <a:solidFill>
                  <a:schemeClr val="tx2"/>
                </a:solidFill>
              </a:rPr>
              <a:t>Diagnosis</a:t>
            </a:r>
            <a:endParaRPr lang="en-US" sz="1200" dirty="0"/>
          </a:p>
        </p:txBody>
      </p:sp>
      <p:sp>
        <p:nvSpPr>
          <p:cNvPr id="41" name="Shape 38"/>
          <p:cNvSpPr/>
          <p:nvPr/>
        </p:nvSpPr>
        <p:spPr>
          <a:xfrm>
            <a:off x="6528816" y="4590288"/>
            <a:ext cx="5047488" cy="457200"/>
          </a:xfrm>
          <a:prstGeom prst="roundRect">
            <a:avLst>
              <a:gd name="adj" fmla="val 16000"/>
            </a:avLst>
          </a:prstGeom>
          <a:solidFill>
            <a:schemeClr val="bg1"/>
          </a:solidFill>
          <a:ln w="12700">
            <a:solidFill>
              <a:srgbClr val="6B6B6B"/>
            </a:solidFill>
            <a:prstDash val="dash"/>
          </a:ln>
        </p:spPr>
      </p:sp>
      <p:sp>
        <p:nvSpPr>
          <p:cNvPr id="42" name="Text 39"/>
          <p:cNvSpPr txBox="1"/>
          <p:nvPr/>
        </p:nvSpPr>
        <p:spPr>
          <a:xfrm>
            <a:off x="6665976" y="4590288"/>
            <a:ext cx="1645920" cy="457200"/>
          </a:xfrm>
          <a:prstGeom prst="rect">
            <a:avLst/>
          </a:prstGeom>
          <a:noFill/>
          <a:ln/>
        </p:spPr>
        <p:txBody>
          <a:bodyPr wrap="square" lIns="0" tIns="0" rIns="0" bIns="0" rtlCol="0" anchor="ctr"/>
          <a:lstStyle/>
          <a:p>
            <a:pPr indent="0" marL="0">
              <a:buNone/>
            </a:pPr>
            <a:r>
              <a:rPr lang="en-US" sz="1200" i="1" dirty="0">
                <a:solidFill>
                  <a:schemeClr val="accent4"/>
                </a:solidFill>
              </a:rPr>
              <a:t>Only if go at W4</a:t>
            </a:r>
            <a:endParaRPr lang="en-US" sz="1200" dirty="0"/>
          </a:p>
        </p:txBody>
      </p:sp>
      <p:sp>
        <p:nvSpPr>
          <p:cNvPr id="43" name="Shape 40"/>
          <p:cNvSpPr/>
          <p:nvPr/>
        </p:nvSpPr>
        <p:spPr>
          <a:xfrm>
            <a:off x="6492240" y="1828800"/>
            <a:ext cx="0" cy="3474720"/>
          </a:xfrm>
          <a:prstGeom prst="line">
            <a:avLst/>
          </a:prstGeom>
          <a:noFill/>
          <a:ln w="15875">
            <a:solidFill>
              <a:srgbClr val="B5482F"/>
            </a:solidFill>
            <a:prstDash val="dash"/>
          </a:ln>
        </p:spPr>
      </p:sp>
      <p:sp>
        <p:nvSpPr>
          <p:cNvPr id="44" name="Shape 41"/>
          <p:cNvSpPr/>
          <p:nvPr/>
        </p:nvSpPr>
        <p:spPr>
          <a:xfrm>
            <a:off x="6336792" y="5330952"/>
            <a:ext cx="310896" cy="310896"/>
          </a:xfrm>
          <a:prstGeom prst="diamond">
            <a:avLst/>
          </a:prstGeom>
          <a:solidFill>
            <a:schemeClr val="accent3"/>
          </a:solidFill>
          <a:ln/>
        </p:spPr>
      </p:sp>
      <p:sp>
        <p:nvSpPr>
          <p:cNvPr id="45" name="Text 42"/>
          <p:cNvSpPr txBox="1"/>
          <p:nvPr/>
        </p:nvSpPr>
        <p:spPr>
          <a:xfrm>
            <a:off x="5394960" y="5715000"/>
            <a:ext cx="2194560" cy="274320"/>
          </a:xfrm>
          <a:prstGeom prst="rect">
            <a:avLst/>
          </a:prstGeom>
          <a:noFill/>
          <a:ln/>
        </p:spPr>
        <p:txBody>
          <a:bodyPr wrap="square" lIns="0" tIns="0" rIns="0" bIns="0" rtlCol="0" anchor="t"/>
          <a:lstStyle/>
          <a:p>
            <a:pPr algn="ctr" indent="0" marL="0">
              <a:buNone/>
            </a:pPr>
            <a:r>
              <a:rPr lang="en-US" sz="1200" b="1" dirty="0">
                <a:solidFill>
                  <a:schemeClr val="accent3"/>
                </a:solidFill>
              </a:rPr>
              <a:t>Go / stop W4</a:t>
            </a:r>
            <a:endParaRPr lang="en-US" sz="1200" dirty="0"/>
          </a:p>
        </p:txBody>
      </p:sp>
      <p:sp>
        <p:nvSpPr>
          <p:cNvPr id="46" name="Shape 43"/>
          <p:cNvSpPr/>
          <p:nvPr/>
        </p:nvSpPr>
        <p:spPr>
          <a:xfrm>
            <a:off x="9052560" y="1828800"/>
            <a:ext cx="0" cy="3474720"/>
          </a:xfrm>
          <a:prstGeom prst="line">
            <a:avLst/>
          </a:prstGeom>
          <a:noFill/>
          <a:ln w="15875">
            <a:solidFill>
              <a:srgbClr val="B5482F"/>
            </a:solidFill>
            <a:prstDash val="dash"/>
          </a:ln>
        </p:spPr>
      </p:sp>
      <p:sp>
        <p:nvSpPr>
          <p:cNvPr id="47" name="Shape 44"/>
          <p:cNvSpPr/>
          <p:nvPr/>
        </p:nvSpPr>
        <p:spPr>
          <a:xfrm>
            <a:off x="8897112" y="5330952"/>
            <a:ext cx="310896" cy="310896"/>
          </a:xfrm>
          <a:prstGeom prst="diamond">
            <a:avLst/>
          </a:prstGeom>
          <a:solidFill>
            <a:schemeClr val="accent3"/>
          </a:solidFill>
          <a:ln/>
        </p:spPr>
      </p:sp>
      <p:sp>
        <p:nvSpPr>
          <p:cNvPr id="48" name="Text 45"/>
          <p:cNvSpPr txBox="1"/>
          <p:nvPr/>
        </p:nvSpPr>
        <p:spPr>
          <a:xfrm>
            <a:off x="7955280" y="5715000"/>
            <a:ext cx="2194560" cy="274320"/>
          </a:xfrm>
          <a:prstGeom prst="rect">
            <a:avLst/>
          </a:prstGeom>
          <a:noFill/>
          <a:ln/>
        </p:spPr>
        <p:txBody>
          <a:bodyPr wrap="square" lIns="0" tIns="0" rIns="0" bIns="0" rtlCol="0" anchor="t"/>
          <a:lstStyle/>
          <a:p>
            <a:pPr algn="ctr" indent="0" marL="0">
              <a:buNone/>
            </a:pPr>
            <a:r>
              <a:rPr lang="en-US" sz="1200" b="1" dirty="0">
                <a:solidFill>
                  <a:schemeClr val="accent3"/>
                </a:solidFill>
              </a:rPr>
              <a:t>Go / stop W8</a:t>
            </a:r>
            <a:endParaRPr lang="en-US" sz="1200" dirty="0"/>
          </a:p>
        </p:txBody>
      </p:sp>
      <p:sp>
        <p:nvSpPr>
          <p:cNvPr id="49" name="Shape 46"/>
          <p:cNvSpPr/>
          <p:nvPr/>
        </p:nvSpPr>
        <p:spPr>
          <a:xfrm>
            <a:off x="11612880" y="1828800"/>
            <a:ext cx="0" cy="3474720"/>
          </a:xfrm>
          <a:prstGeom prst="line">
            <a:avLst/>
          </a:prstGeom>
          <a:noFill/>
          <a:ln w="15875">
            <a:solidFill>
              <a:srgbClr val="B5482F"/>
            </a:solidFill>
            <a:prstDash val="dash"/>
          </a:ln>
        </p:spPr>
      </p:sp>
      <p:sp>
        <p:nvSpPr>
          <p:cNvPr id="50" name="Shape 47"/>
          <p:cNvSpPr/>
          <p:nvPr/>
        </p:nvSpPr>
        <p:spPr>
          <a:xfrm>
            <a:off x="11457432" y="5330952"/>
            <a:ext cx="310896" cy="310896"/>
          </a:xfrm>
          <a:prstGeom prst="diamond">
            <a:avLst/>
          </a:prstGeom>
          <a:solidFill>
            <a:schemeClr val="accent3"/>
          </a:solidFill>
          <a:ln/>
        </p:spPr>
      </p:sp>
      <p:sp>
        <p:nvSpPr>
          <p:cNvPr id="51" name="Text 48"/>
          <p:cNvSpPr txBox="1"/>
          <p:nvPr/>
        </p:nvSpPr>
        <p:spPr>
          <a:xfrm>
            <a:off x="9418320" y="5715000"/>
            <a:ext cx="2377440" cy="274320"/>
          </a:xfrm>
          <a:prstGeom prst="rect">
            <a:avLst/>
          </a:prstGeom>
          <a:noFill/>
          <a:ln/>
        </p:spPr>
        <p:txBody>
          <a:bodyPr wrap="square" lIns="0" tIns="0" rIns="0" bIns="0" rtlCol="0" anchor="t"/>
          <a:lstStyle/>
          <a:p>
            <a:pPr algn="r" indent="0" marL="0">
              <a:buNone/>
            </a:pPr>
            <a:r>
              <a:rPr lang="en-US" sz="1200" b="1" dirty="0">
                <a:solidFill>
                  <a:schemeClr val="accent3"/>
                </a:solidFill>
              </a:rPr>
              <a:t>Go / stop W12</a:t>
            </a:r>
            <a:endParaRPr lang="en-US" sz="1200" dirty="0"/>
          </a:p>
        </p:txBody>
      </p:sp>
      <p:sp>
        <p:nvSpPr>
          <p:cNvPr id="52" name="Text 49"/>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400" i="1" dirty="0">
                <a:solidFill>
                  <a:schemeClr val="accent4"/>
                </a:solidFill>
              </a:rPr>
              <a:t>Some initiatives will fail: stopping a project is a result</a:t>
            </a:r>
            <a:endParaRPr lang="en-US" sz="14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3000" b="1" dirty="0">
                <a:solidFill>
                  <a:schemeClr val="tx2"/>
                </a:solidFill>
              </a:rPr>
              <a:t>Every gate has a kill criterion, agreed today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377440"/>
                <a:gridCol w="4480560"/>
                <a:gridCol w="4206240"/>
              </a:tblGrid>
              <a:tr h="640080">
                <a:tc>
                  <a:txBody>
                    <a:bodyPr/>
                    <a:lstStyle/>
                    <a:p>
                      <a:pPr indent="0" marL="0">
                        <a:buNone/>
                      </a:pPr>
                      <a:r>
                        <a:rPr lang="en-US" sz="1400" b="1" dirty="0">
                          <a:solidFill>
                            <a:srgbClr val="FFFFFF"/>
                          </a:solidFill>
                        </a:rPr>
                        <a:t>Project</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0B4F3C"/>
                    </a:solidFill>
                  </a:tcPr>
                </a:tc>
                <a:tc>
                  <a:txBody>
                    <a:bodyPr/>
                    <a:lstStyle/>
                    <a:p>
                      <a:pPr indent="0" marL="0">
                        <a:buNone/>
                      </a:pPr>
                      <a:r>
                        <a:rPr lang="en-US" sz="1400" b="1" dirty="0">
                          <a:solidFill>
                            <a:srgbClr val="FFFFFF"/>
                          </a:solidFill>
                        </a:rPr>
                        <a:t>Stop at W4 if…</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0B4F3C"/>
                    </a:solidFill>
                  </a:tcPr>
                </a:tc>
                <a:tc>
                  <a:txBody>
                    <a:bodyPr/>
                    <a:lstStyle/>
                    <a:p>
                      <a:pPr indent="0" marL="0">
                        <a:buNone/>
                      </a:pPr>
                      <a:r>
                        <a:rPr lang="en-US" sz="1400" b="1" dirty="0">
                          <a:solidFill>
                            <a:srgbClr val="FFFFFF"/>
                          </a:solidFill>
                        </a:rPr>
                        <a:t>Stop at W8 if…</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0B4F3C"/>
                    </a:solidFill>
                  </a:tcPr>
                </a:tc>
              </a:tr>
              <a:tr h="640080">
                <a:tc>
                  <a:txBody>
                    <a:bodyPr/>
                    <a:lstStyle/>
                    <a:p>
                      <a:pPr indent="0" marL="0">
                        <a:buNone/>
                      </a:pPr>
                      <a:r>
                        <a:rPr lang="en-US" sz="1400" b="1" dirty="0">
                          <a:solidFill>
                            <a:srgbClr val="0B4F3C"/>
                          </a:solidFill>
                        </a:rPr>
                        <a:t>Scheduling</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D1D1B"/>
                          </a:solidFill>
                        </a:rPr>
                        <a:t>Changeovers explain little of the capacity loss</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D1D1B"/>
                          </a:solidFill>
                        </a:rPr>
                        <a:t>Backtest gain below the agreed threshold</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0B4F3C"/>
                          </a:solidFill>
                        </a:rPr>
                        <a:t>Product quality</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c>
                  <a:txBody>
                    <a:bodyPr/>
                    <a:lstStyle/>
                    <a:p>
                      <a:pPr indent="0" marL="0">
                        <a:buNone/>
                      </a:pPr>
                      <a:r>
                        <a:rPr lang="en-US" sz="1400" dirty="0">
                          <a:solidFill>
                            <a:srgbClr val="1D1D1B"/>
                          </a:solidFill>
                        </a:rPr>
                        <a:t>Scrap and deviations weigh little in OEE</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c>
                  <a:txBody>
                    <a:bodyPr/>
                    <a:lstStyle/>
                    <a:p>
                      <a:pPr indent="0" marL="0">
                        <a:buNone/>
                      </a:pPr>
                      <a:r>
                        <a:rPr lang="en-US" sz="1400" dirty="0">
                          <a:solidFill>
                            <a:srgbClr val="1D1D1B"/>
                          </a:solidFill>
                        </a:rPr>
                        <a:t>No drop in deviations on the pilot line</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r>
              <a:tr h="640080">
                <a:tc>
                  <a:txBody>
                    <a:bodyPr/>
                    <a:lstStyle/>
                    <a:p>
                      <a:pPr indent="0" marL="0">
                        <a:buNone/>
                      </a:pPr>
                      <a:r>
                        <a:rPr lang="en-US" sz="1400" b="1" dirty="0">
                          <a:solidFill>
                            <a:srgbClr val="0B4F3C"/>
                          </a:solidFill>
                        </a:rPr>
                        <a:t>Quality release</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D1D1B"/>
                          </a:solidFill>
                        </a:rPr>
                        <a:t>Review is not the release bottleneck</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D1D1B"/>
                          </a:solidFill>
                        </a:rPr>
                        <a:t>One critical anomaly missed</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0B4F3C"/>
                          </a:solidFill>
                        </a:rPr>
                        <a:t>Time to market</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c>
                  <a:txBody>
                    <a:bodyPr/>
                    <a:lstStyle/>
                    <a:p>
                      <a:pPr indent="0" marL="0">
                        <a:buNone/>
                      </a:pPr>
                      <a:r>
                        <a:rPr lang="en-US" sz="1400" dirty="0">
                          <a:solidFill>
                            <a:srgbClr val="1D1D1B"/>
                          </a:solidFill>
                        </a:rPr>
                        <a:t>Lead time sits mostly outside the plant (R&amp;D, regulatory)</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c>
                  <a:txBody>
                    <a:bodyPr/>
                    <a:lstStyle/>
                    <a:p>
                      <a:pPr indent="0" marL="0">
                        <a:buNone/>
                      </a:pPr>
                      <a:r>
                        <a:rPr lang="en-US" sz="1400" dirty="0">
                          <a:solidFill>
                            <a:srgbClr val="1D1D1B"/>
                          </a:solidFill>
                        </a:rPr>
                        <a:t>Becomes a recommendation</a:t>
                      </a:r>
                      <a:endParaRPr lang="en-US" sz="1400" dirty="0"/>
                    </a:p>
                  </a:txBody>
                  <a:tcPr marL="137160" marR="137160" marT="73152" marB="73152"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r>
            </a:tbl>
          </a:graphicData>
        </a:graphic>
      </p:graphicFrame>
      <p:sp>
        <p:nvSpPr>
          <p:cNvPr id="5" name="Shape 1"/>
          <p:cNvSpPr/>
          <p:nvPr/>
        </p:nvSpPr>
        <p:spPr>
          <a:xfrm>
            <a:off x="548640" y="5120640"/>
            <a:ext cx="11064240" cy="777240"/>
          </a:xfrm>
          <a:prstGeom prst="roundRect">
            <a:avLst>
              <a:gd name="adj" fmla="val 9412"/>
            </a:avLst>
          </a:prstGeom>
          <a:solidFill>
            <a:schemeClr val="bg2"/>
          </a:solidFill>
          <a:ln/>
        </p:spPr>
      </p:sp>
      <p:sp>
        <p:nvSpPr>
          <p:cNvPr id="6" name="Text 2"/>
          <p:cNvSpPr txBox="1"/>
          <p:nvPr/>
        </p:nvSpPr>
        <p:spPr>
          <a:xfrm>
            <a:off x="822960" y="5120640"/>
            <a:ext cx="10515600" cy="777240"/>
          </a:xfrm>
          <a:prstGeom prst="rect">
            <a:avLst/>
          </a:prstGeom>
          <a:noFill/>
          <a:ln/>
        </p:spPr>
        <p:txBody>
          <a:bodyPr wrap="square" lIns="0" tIns="0" rIns="0" bIns="0" rtlCol="0" anchor="ctr"/>
          <a:lstStyle/>
          <a:p>
            <a:pPr indent="0" marL="0">
              <a:buNone/>
            </a:pPr>
            <a:r>
              <a:rPr lang="en-US" sz="1600" b="1" dirty="0">
                <a:solidFill>
                  <a:schemeClr val="accent3"/>
                </a:solidFill>
              </a:rPr>
              <a:t>Rule: </a:t>
            </a:r>
            <a:pPr indent="0" marL="0">
              <a:buNone/>
            </a:pPr>
            <a:r>
              <a:rPr lang="en-US" sz="1600" dirty="0">
                <a:solidFill>
                  <a:schemeClr val="tx1"/>
                </a:solidFill>
              </a:rPr>
              <a:t>failing the same gate twice means we stop. Thresholds set with the sponsor.</a:t>
            </a:r>
            <a:endParaRPr lang="en-US" sz="16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3000" b="1" dirty="0">
                <a:solidFill>
                  <a:schemeClr val="tx2"/>
                </a:solidFill>
              </a:rPr>
              <a:t>A gain counts when your controller computes it without us</a:t>
            </a:r>
            <a:endParaRPr lang="en-US" sz="3000" dirty="0"/>
          </a:p>
        </p:txBody>
      </p:sp>
      <p:sp>
        <p:nvSpPr>
          <p:cNvPr id="4" name="Text 1"/>
          <p:cNvSpPr txBox="1"/>
          <p:nvPr/>
        </p:nvSpPr>
        <p:spPr>
          <a:xfrm>
            <a:off x="548640" y="1828800"/>
            <a:ext cx="3291840" cy="1188720"/>
          </a:xfrm>
          <a:prstGeom prst="rect">
            <a:avLst/>
          </a:prstGeom>
          <a:noFill/>
          <a:ln/>
        </p:spPr>
        <p:txBody>
          <a:bodyPr wrap="square" lIns="0" tIns="0" rIns="0" bIns="0" rtlCol="0" anchor="b"/>
          <a:lstStyle/>
          <a:p>
            <a:pPr indent="0" marL="0">
              <a:buNone/>
            </a:pPr>
            <a:r>
              <a:rPr lang="en-US" sz="3600" b="1" dirty="0">
                <a:solidFill>
                  <a:schemeClr val="accent1"/>
                </a:solidFill>
              </a:rPr>
              <a:t>Bottleneck line</a:t>
            </a:r>
            <a:endParaRPr lang="en-US" sz="3600" dirty="0"/>
          </a:p>
        </p:txBody>
      </p:sp>
      <p:sp>
        <p:nvSpPr>
          <p:cNvPr id="5" name="Text 2"/>
          <p:cNvSpPr txBox="1"/>
          <p:nvPr/>
        </p:nvSpPr>
        <p:spPr>
          <a:xfrm>
            <a:off x="548640" y="3063240"/>
            <a:ext cx="3108960" cy="731520"/>
          </a:xfrm>
          <a:prstGeom prst="rect">
            <a:avLst/>
          </a:prstGeom>
          <a:noFill/>
          <a:ln/>
        </p:spPr>
        <p:txBody>
          <a:bodyPr wrap="square" lIns="0" tIns="0" rIns="0" bIns="0" rtlCol="0" anchor="t"/>
          <a:lstStyle/>
          <a:p>
            <a:pPr indent="0" marL="0">
              <a:buNone/>
            </a:pPr>
            <a:r>
              <a:rPr lang="en-US" sz="1600" dirty="0">
                <a:solidFill>
                  <a:schemeClr val="tx1"/>
                </a:solidFill>
              </a:rPr>
              <a:t>is where capacity is measured, at normalized mix</a:t>
            </a:r>
            <a:endParaRPr lang="en-US" sz="1600" dirty="0"/>
          </a:p>
        </p:txBody>
      </p:sp>
      <p:sp>
        <p:nvSpPr>
          <p:cNvPr id="6" name="Text 3"/>
          <p:cNvSpPr txBox="1"/>
          <p:nvPr/>
        </p:nvSpPr>
        <p:spPr>
          <a:xfrm>
            <a:off x="548640" y="4206240"/>
            <a:ext cx="3108960" cy="731520"/>
          </a:xfrm>
          <a:prstGeom prst="rect">
            <a:avLst/>
          </a:prstGeom>
          <a:noFill/>
          <a:ln/>
        </p:spPr>
        <p:txBody>
          <a:bodyPr wrap="square" lIns="0" tIns="0" rIns="0" bIns="0" rtlCol="0" anchor="t"/>
          <a:lstStyle/>
          <a:p>
            <a:pPr indent="0" marL="0">
              <a:buNone/>
            </a:pPr>
            <a:r>
              <a:rPr lang="en-US" sz="1400" b="1" dirty="0">
                <a:solidFill>
                  <a:schemeClr val="accent2"/>
                </a:solidFill>
              </a:rPr>
              <a:t>Baseline signed in W1 by the controller</a:t>
            </a:r>
            <a:endParaRPr lang="en-US" sz="1400" dirty="0"/>
          </a:p>
        </p:txBody>
      </p:sp>
      <p:sp>
        <p:nvSpPr>
          <p:cNvPr id="7" name="Shape 4"/>
          <p:cNvSpPr/>
          <p:nvPr/>
        </p:nvSpPr>
        <p:spPr>
          <a:xfrm>
            <a:off x="4389120" y="2834640"/>
            <a:ext cx="2194560" cy="914400"/>
          </a:xfrm>
          <a:prstGeom prst="roundRect">
            <a:avLst>
              <a:gd name="adj" fmla="val 8000"/>
            </a:avLst>
          </a:prstGeom>
          <a:solidFill>
            <a:schemeClr val="accent1"/>
          </a:solidFill>
          <a:ln/>
        </p:spPr>
      </p:sp>
      <p:sp>
        <p:nvSpPr>
          <p:cNvPr id="8" name="Text 5"/>
          <p:cNvSpPr txBox="1"/>
          <p:nvPr/>
        </p:nvSpPr>
        <p:spPr>
          <a:xfrm>
            <a:off x="4389120" y="2834640"/>
            <a:ext cx="2194560" cy="914400"/>
          </a:xfrm>
          <a:prstGeom prst="rect">
            <a:avLst/>
          </a:prstGeom>
          <a:noFill/>
          <a:ln/>
        </p:spPr>
        <p:txBody>
          <a:bodyPr wrap="square" lIns="0" tIns="0" rIns="0" bIns="0" rtlCol="0" anchor="ctr"/>
          <a:lstStyle/>
          <a:p>
            <a:pPr algn="ctr" indent="0" marL="0">
              <a:buNone/>
            </a:pPr>
            <a:r>
              <a:rPr lang="en-US" sz="1600" b="1" dirty="0">
                <a:solidFill>
                  <a:schemeClr val="bg1"/>
                </a:solidFill>
              </a:rPr>
              <a:t>Freed capacity</a:t>
            </a:r>
            <a:endParaRPr lang="en-US" sz="1600" dirty="0"/>
          </a:p>
        </p:txBody>
      </p:sp>
      <p:sp>
        <p:nvSpPr>
          <p:cNvPr id="9" name="Shape 6"/>
          <p:cNvSpPr/>
          <p:nvPr/>
        </p:nvSpPr>
        <p:spPr>
          <a:xfrm>
            <a:off x="7086600" y="2697480"/>
            <a:ext cx="1188720" cy="1188720"/>
          </a:xfrm>
          <a:prstGeom prst="diamond">
            <a:avLst/>
          </a:prstGeom>
          <a:solidFill>
            <a:schemeClr val="bg2"/>
          </a:solidFill>
          <a:ln w="12700">
            <a:solidFill>
              <a:srgbClr val="0B4F3C"/>
            </a:solidFill>
            <a:prstDash val="solid"/>
          </a:ln>
        </p:spPr>
      </p:sp>
      <p:sp>
        <p:nvSpPr>
          <p:cNvPr id="10" name="Text 7"/>
          <p:cNvSpPr txBox="1"/>
          <p:nvPr/>
        </p:nvSpPr>
        <p:spPr>
          <a:xfrm>
            <a:off x="7086600" y="2697480"/>
            <a:ext cx="1188720" cy="1188720"/>
          </a:xfrm>
          <a:prstGeom prst="rect">
            <a:avLst/>
          </a:prstGeom>
          <a:noFill/>
          <a:ln/>
        </p:spPr>
        <p:txBody>
          <a:bodyPr wrap="square" lIns="0" tIns="0" rIns="0" bIns="0" rtlCol="0" anchor="ctr"/>
          <a:lstStyle/>
          <a:p>
            <a:pPr algn="ctr" indent="0" marL="0">
              <a:buNone/>
            </a:pPr>
            <a:r>
              <a:rPr lang="en-US" sz="1300" b="1" dirty="0">
                <a:solidFill>
                  <a:schemeClr val="tx2"/>
                </a:solidFill>
              </a:rPr>
              <a:t>Sold?</a:t>
            </a:r>
            <a:endParaRPr lang="en-US" sz="1300" dirty="0"/>
          </a:p>
        </p:txBody>
      </p:sp>
      <p:sp>
        <p:nvSpPr>
          <p:cNvPr id="11" name="Shape 8"/>
          <p:cNvSpPr/>
          <p:nvPr/>
        </p:nvSpPr>
        <p:spPr>
          <a:xfrm>
            <a:off x="6583680" y="3291840"/>
            <a:ext cx="502920" cy="0"/>
          </a:xfrm>
          <a:prstGeom prst="line">
            <a:avLst/>
          </a:prstGeom>
          <a:noFill/>
          <a:ln w="19050">
            <a:solidFill>
              <a:srgbClr val="6B6B6B"/>
            </a:solidFill>
            <a:prstDash val="solid"/>
            <a:tailEnd type="triangle"/>
          </a:ln>
        </p:spPr>
      </p:sp>
      <p:sp>
        <p:nvSpPr>
          <p:cNvPr id="12" name="Shape 9"/>
          <p:cNvSpPr/>
          <p:nvPr/>
        </p:nvSpPr>
        <p:spPr>
          <a:xfrm>
            <a:off x="8275320" y="3291840"/>
            <a:ext cx="411480" cy="-1005840"/>
          </a:xfrm>
          <a:prstGeom prst="line">
            <a:avLst/>
          </a:prstGeom>
          <a:noFill/>
          <a:ln w="19050">
            <a:solidFill>
              <a:srgbClr val="5E9E3E"/>
            </a:solidFill>
            <a:prstDash val="solid"/>
            <a:tailEnd type="triangle"/>
          </a:ln>
        </p:spPr>
      </p:sp>
      <p:sp>
        <p:nvSpPr>
          <p:cNvPr id="13" name="Shape 10"/>
          <p:cNvSpPr/>
          <p:nvPr/>
        </p:nvSpPr>
        <p:spPr>
          <a:xfrm>
            <a:off x="8275320" y="3291840"/>
            <a:ext cx="411480" cy="1005840"/>
          </a:xfrm>
          <a:prstGeom prst="line">
            <a:avLst/>
          </a:prstGeom>
          <a:noFill/>
          <a:ln w="19050">
            <a:solidFill>
              <a:srgbClr val="B5482F"/>
            </a:solidFill>
            <a:prstDash val="solid"/>
            <a:tailEnd type="triangle"/>
          </a:ln>
        </p:spPr>
      </p:sp>
      <p:sp>
        <p:nvSpPr>
          <p:cNvPr id="14" name="Shape 11"/>
          <p:cNvSpPr/>
          <p:nvPr/>
        </p:nvSpPr>
        <p:spPr>
          <a:xfrm>
            <a:off x="8778240" y="1737360"/>
            <a:ext cx="2834640" cy="1097280"/>
          </a:xfrm>
          <a:prstGeom prst="roundRect">
            <a:avLst>
              <a:gd name="adj" fmla="val 6667"/>
            </a:avLst>
          </a:prstGeom>
          <a:solidFill>
            <a:schemeClr val="bg2"/>
          </a:solidFill>
          <a:ln/>
        </p:spPr>
      </p:sp>
      <p:sp>
        <p:nvSpPr>
          <p:cNvPr id="15" name="Text 12"/>
          <p:cNvSpPr txBox="1"/>
          <p:nvPr/>
        </p:nvSpPr>
        <p:spPr>
          <a:xfrm>
            <a:off x="8961120" y="1737360"/>
            <a:ext cx="2560320" cy="1097280"/>
          </a:xfrm>
          <a:prstGeom prst="rect">
            <a:avLst/>
          </a:prstGeom>
          <a:noFill/>
          <a:ln/>
        </p:spPr>
        <p:txBody>
          <a:bodyPr wrap="square" lIns="0" tIns="0" rIns="0" bIns="0" rtlCol="0" anchor="ctr"/>
          <a:lstStyle/>
          <a:p>
            <a:pPr indent="0" marL="0">
              <a:buNone/>
            </a:pPr>
            <a:r>
              <a:rPr lang="en-US" sz="1500" b="1" dirty="0">
                <a:solidFill>
                  <a:schemeClr val="accent2"/>
                </a:solidFill>
              </a:rPr>
              <a:t>Yes</a:t>
            </a:r>
            <a:endParaRPr lang="en-US" sz="1500" dirty="0"/>
          </a:p>
          <a:p>
            <a:pPr indent="0" marL="0">
              <a:buNone/>
            </a:pPr>
            <a:r>
              <a:rPr lang="en-US" sz="1500" dirty="0">
                <a:solidFill>
                  <a:schemeClr val="tx1"/>
                </a:solidFill>
              </a:rPr>
              <a:t>Contribution margin</a:t>
            </a:r>
            <a:endParaRPr lang="en-US" sz="1500" dirty="0"/>
          </a:p>
        </p:txBody>
      </p:sp>
      <p:sp>
        <p:nvSpPr>
          <p:cNvPr id="16" name="Shape 13"/>
          <p:cNvSpPr/>
          <p:nvPr/>
        </p:nvSpPr>
        <p:spPr>
          <a:xfrm>
            <a:off x="8778240" y="3749040"/>
            <a:ext cx="2834640" cy="1097280"/>
          </a:xfrm>
          <a:prstGeom prst="roundRect">
            <a:avLst>
              <a:gd name="adj" fmla="val 6667"/>
            </a:avLst>
          </a:prstGeom>
          <a:solidFill>
            <a:schemeClr val="bg2"/>
          </a:solidFill>
          <a:ln/>
        </p:spPr>
      </p:sp>
      <p:sp>
        <p:nvSpPr>
          <p:cNvPr id="17" name="Text 14"/>
          <p:cNvSpPr txBox="1"/>
          <p:nvPr/>
        </p:nvSpPr>
        <p:spPr>
          <a:xfrm>
            <a:off x="8961120" y="3749040"/>
            <a:ext cx="2560320" cy="1097280"/>
          </a:xfrm>
          <a:prstGeom prst="rect">
            <a:avLst/>
          </a:prstGeom>
          <a:noFill/>
          <a:ln/>
        </p:spPr>
        <p:txBody>
          <a:bodyPr wrap="square" lIns="0" tIns="0" rIns="0" bIns="0" rtlCol="0" anchor="ctr"/>
          <a:lstStyle/>
          <a:p>
            <a:pPr indent="0" marL="0">
              <a:buNone/>
            </a:pPr>
            <a:r>
              <a:rPr lang="en-US" sz="1500" b="1" dirty="0">
                <a:solidFill>
                  <a:schemeClr val="accent3"/>
                </a:solidFill>
              </a:rPr>
              <a:t>No</a:t>
            </a:r>
            <a:endParaRPr lang="en-US" sz="1500" dirty="0"/>
          </a:p>
          <a:p>
            <a:pPr indent="0" marL="0">
              <a:buNone/>
            </a:pPr>
            <a:r>
              <a:rPr lang="en-US" sz="1500" dirty="0">
                <a:solidFill>
                  <a:schemeClr val="tx1"/>
                </a:solidFill>
              </a:rPr>
              <a:t>Avoided costs only</a:t>
            </a:r>
            <a:endParaRPr lang="en-US" sz="1500" dirty="0"/>
          </a:p>
        </p:txBody>
      </p:sp>
      <p:sp>
        <p:nvSpPr>
          <p:cNvPr id="18" name="Text 15"/>
          <p:cNvSpPr txBox="1"/>
          <p:nvPr/>
        </p:nvSpPr>
        <p:spPr>
          <a:xfrm>
            <a:off x="4389120" y="5257800"/>
            <a:ext cx="7223760" cy="365760"/>
          </a:xfrm>
          <a:prstGeom prst="rect">
            <a:avLst/>
          </a:prstGeom>
          <a:noFill/>
          <a:ln/>
        </p:spPr>
        <p:txBody>
          <a:bodyPr wrap="square" lIns="0" tIns="0" rIns="0" bIns="0" rtlCol="0" anchor="t"/>
          <a:lstStyle/>
          <a:p>
            <a:pPr indent="0" marL="0">
              <a:buNone/>
            </a:pPr>
            <a:r>
              <a:rPr lang="en-US" sz="1400" i="1" dirty="0">
                <a:solidFill>
                  <a:schemeClr val="accent4"/>
                </a:solidFill>
              </a:rPr>
              <a:t>To prove in W2: order book and lost sales</a:t>
            </a:r>
            <a:endParaRPr lang="en-US" sz="14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3000" b="1" dirty="0">
                <a:solidFill>
                  <a:schemeClr val="tx2"/>
                </a:solidFill>
              </a:rPr>
              <a:t>AI proposes, your teams decide</a:t>
            </a:r>
            <a:endParaRPr lang="en-US" sz="3000" dirty="0"/>
          </a:p>
        </p:txBody>
      </p:sp>
      <p:sp>
        <p:nvSpPr>
          <p:cNvPr id="4" name="Shape 1"/>
          <p:cNvSpPr/>
          <p:nvPr/>
        </p:nvSpPr>
        <p:spPr>
          <a:xfrm>
            <a:off x="548640" y="3749040"/>
            <a:ext cx="1737360" cy="822960"/>
          </a:xfrm>
          <a:prstGeom prst="roundRect">
            <a:avLst>
              <a:gd name="adj" fmla="val 8889"/>
            </a:avLst>
          </a:prstGeom>
          <a:solidFill>
            <a:schemeClr val="accent1"/>
          </a:solidFill>
          <a:ln/>
        </p:spPr>
      </p:sp>
      <p:sp>
        <p:nvSpPr>
          <p:cNvPr id="5" name="Text 2"/>
          <p:cNvSpPr txBox="1"/>
          <p:nvPr/>
        </p:nvSpPr>
        <p:spPr>
          <a:xfrm>
            <a:off x="658368" y="3858768"/>
            <a:ext cx="1554480" cy="548640"/>
          </a:xfrm>
          <a:prstGeom prst="rect">
            <a:avLst/>
          </a:prstGeom>
          <a:noFill/>
          <a:ln/>
        </p:spPr>
        <p:txBody>
          <a:bodyPr wrap="square" lIns="0" tIns="0" rIns="0" bIns="0" rtlCol="0" anchor="t"/>
          <a:lstStyle/>
          <a:p>
            <a:pPr indent="0" marL="0">
              <a:buNone/>
            </a:pPr>
            <a:r>
              <a:rPr lang="en-US" sz="1400" b="1" dirty="0">
                <a:solidFill>
                  <a:schemeClr val="bg1"/>
                </a:solidFill>
              </a:rPr>
              <a:t>Shadow</a:t>
            </a:r>
            <a:endParaRPr lang="en-US" sz="1400" dirty="0"/>
          </a:p>
        </p:txBody>
      </p:sp>
      <p:sp>
        <p:nvSpPr>
          <p:cNvPr id="6" name="Text 3"/>
          <p:cNvSpPr txBox="1"/>
          <p:nvPr/>
        </p:nvSpPr>
        <p:spPr>
          <a:xfrm>
            <a:off x="548640" y="4709160"/>
            <a:ext cx="1737360" cy="594360"/>
          </a:xfrm>
          <a:prstGeom prst="rect">
            <a:avLst/>
          </a:prstGeom>
          <a:noFill/>
          <a:ln/>
        </p:spPr>
        <p:txBody>
          <a:bodyPr wrap="square" lIns="0" tIns="0" rIns="0" bIns="0" rtlCol="0" anchor="t"/>
          <a:lstStyle/>
          <a:p>
            <a:pPr indent="0" marL="0">
              <a:buNone/>
            </a:pPr>
            <a:r>
              <a:rPr lang="en-US" sz="1200" dirty="0">
                <a:solidFill>
                  <a:schemeClr val="accent4"/>
                </a:solidFill>
              </a:rPr>
              <a:t>Runs alongside the team</a:t>
            </a:r>
            <a:endParaRPr lang="en-US" sz="1200" dirty="0"/>
          </a:p>
        </p:txBody>
      </p:sp>
      <p:sp>
        <p:nvSpPr>
          <p:cNvPr id="7" name="Shape 4"/>
          <p:cNvSpPr/>
          <p:nvPr/>
        </p:nvSpPr>
        <p:spPr>
          <a:xfrm>
            <a:off x="2423160" y="3246120"/>
            <a:ext cx="1737360" cy="1325880"/>
          </a:xfrm>
          <a:prstGeom prst="roundRect">
            <a:avLst>
              <a:gd name="adj" fmla="val 5517"/>
            </a:avLst>
          </a:prstGeom>
          <a:solidFill>
            <a:schemeClr val="accent1"/>
          </a:solidFill>
          <a:ln/>
        </p:spPr>
      </p:sp>
      <p:sp>
        <p:nvSpPr>
          <p:cNvPr id="8" name="Text 5"/>
          <p:cNvSpPr txBox="1"/>
          <p:nvPr/>
        </p:nvSpPr>
        <p:spPr>
          <a:xfrm>
            <a:off x="2532888" y="3355848"/>
            <a:ext cx="1554480" cy="548640"/>
          </a:xfrm>
          <a:prstGeom prst="rect">
            <a:avLst/>
          </a:prstGeom>
          <a:noFill/>
          <a:ln/>
        </p:spPr>
        <p:txBody>
          <a:bodyPr wrap="square" lIns="0" tIns="0" rIns="0" bIns="0" rtlCol="0" anchor="t"/>
          <a:lstStyle/>
          <a:p>
            <a:pPr indent="0" marL="0">
              <a:buNone/>
            </a:pPr>
            <a:r>
              <a:rPr lang="en-US" sz="1400" b="1" dirty="0">
                <a:solidFill>
                  <a:schemeClr val="bg1"/>
                </a:solidFill>
              </a:rPr>
              <a:t>Co-pilot</a:t>
            </a:r>
            <a:endParaRPr lang="en-US" sz="1400" dirty="0"/>
          </a:p>
        </p:txBody>
      </p:sp>
      <p:sp>
        <p:nvSpPr>
          <p:cNvPr id="9" name="Text 6"/>
          <p:cNvSpPr txBox="1"/>
          <p:nvPr/>
        </p:nvSpPr>
        <p:spPr>
          <a:xfrm>
            <a:off x="2423160" y="4709160"/>
            <a:ext cx="1737360" cy="594360"/>
          </a:xfrm>
          <a:prstGeom prst="rect">
            <a:avLst/>
          </a:prstGeom>
          <a:noFill/>
          <a:ln/>
        </p:spPr>
        <p:txBody>
          <a:bodyPr wrap="square" lIns="0" tIns="0" rIns="0" bIns="0" rtlCol="0" anchor="t"/>
          <a:lstStyle/>
          <a:p>
            <a:pPr indent="0" marL="0">
              <a:buNone/>
            </a:pPr>
            <a:r>
              <a:rPr lang="en-US" sz="1200" dirty="0">
                <a:solidFill>
                  <a:schemeClr val="accent4"/>
                </a:solidFill>
              </a:rPr>
              <a:t>Every change has a reason</a:t>
            </a:r>
            <a:endParaRPr lang="en-US" sz="1200" dirty="0"/>
          </a:p>
        </p:txBody>
      </p:sp>
      <p:sp>
        <p:nvSpPr>
          <p:cNvPr id="10" name="Shape 7"/>
          <p:cNvSpPr/>
          <p:nvPr/>
        </p:nvSpPr>
        <p:spPr>
          <a:xfrm>
            <a:off x="4297680" y="2743200"/>
            <a:ext cx="1737360" cy="1828800"/>
          </a:xfrm>
          <a:prstGeom prst="roundRect">
            <a:avLst>
              <a:gd name="adj" fmla="val 4211"/>
            </a:avLst>
          </a:prstGeom>
          <a:solidFill>
            <a:schemeClr val="bg2"/>
          </a:solidFill>
          <a:ln/>
        </p:spPr>
      </p:sp>
      <p:sp>
        <p:nvSpPr>
          <p:cNvPr id="11" name="Text 8"/>
          <p:cNvSpPr txBox="1"/>
          <p:nvPr/>
        </p:nvSpPr>
        <p:spPr>
          <a:xfrm>
            <a:off x="4407408" y="2852928"/>
            <a:ext cx="1554480" cy="548640"/>
          </a:xfrm>
          <a:prstGeom prst="rect">
            <a:avLst/>
          </a:prstGeom>
          <a:noFill/>
          <a:ln/>
        </p:spPr>
        <p:txBody>
          <a:bodyPr wrap="square" lIns="0" tIns="0" rIns="0" bIns="0" rtlCol="0" anchor="t"/>
          <a:lstStyle/>
          <a:p>
            <a:pPr indent="0" marL="0">
              <a:buNone/>
            </a:pPr>
            <a:r>
              <a:rPr lang="en-US" sz="1400" b="1" dirty="0">
                <a:solidFill>
                  <a:schemeClr val="tx2"/>
                </a:solidFill>
              </a:rPr>
              <a:t>Default</a:t>
            </a:r>
            <a:endParaRPr lang="en-US" sz="1400" dirty="0"/>
          </a:p>
        </p:txBody>
      </p:sp>
      <p:sp>
        <p:nvSpPr>
          <p:cNvPr id="12" name="Text 9"/>
          <p:cNvSpPr txBox="1"/>
          <p:nvPr/>
        </p:nvSpPr>
        <p:spPr>
          <a:xfrm>
            <a:off x="4297680" y="4709160"/>
            <a:ext cx="1737360" cy="594360"/>
          </a:xfrm>
          <a:prstGeom prst="rect">
            <a:avLst/>
          </a:prstGeom>
          <a:noFill/>
          <a:ln/>
        </p:spPr>
        <p:txBody>
          <a:bodyPr wrap="square" lIns="0" tIns="0" rIns="0" bIns="0" rtlCol="0" anchor="t"/>
          <a:lstStyle/>
          <a:p>
            <a:pPr indent="0" marL="0">
              <a:buNone/>
            </a:pPr>
            <a:r>
              <a:rPr lang="en-US" sz="1200" dirty="0">
                <a:solidFill>
                  <a:schemeClr val="accent4"/>
                </a:solidFill>
              </a:rPr>
              <a:t>The team can object</a:t>
            </a:r>
            <a:endParaRPr lang="en-US" sz="1200" dirty="0"/>
          </a:p>
        </p:txBody>
      </p:sp>
      <p:sp>
        <p:nvSpPr>
          <p:cNvPr id="13" name="Shape 10"/>
          <p:cNvSpPr/>
          <p:nvPr/>
        </p:nvSpPr>
        <p:spPr>
          <a:xfrm>
            <a:off x="6172200" y="2240280"/>
            <a:ext cx="1737360" cy="2331720"/>
          </a:xfrm>
          <a:prstGeom prst="roundRect">
            <a:avLst>
              <a:gd name="adj" fmla="val 4211"/>
            </a:avLst>
          </a:prstGeom>
          <a:solidFill>
            <a:schemeClr val="bg2"/>
          </a:solidFill>
          <a:ln/>
        </p:spPr>
      </p:sp>
      <p:sp>
        <p:nvSpPr>
          <p:cNvPr id="14" name="Text 11"/>
          <p:cNvSpPr txBox="1"/>
          <p:nvPr/>
        </p:nvSpPr>
        <p:spPr>
          <a:xfrm>
            <a:off x="6281928" y="2350008"/>
            <a:ext cx="1554480" cy="548640"/>
          </a:xfrm>
          <a:prstGeom prst="rect">
            <a:avLst/>
          </a:prstGeom>
          <a:noFill/>
          <a:ln/>
        </p:spPr>
        <p:txBody>
          <a:bodyPr wrap="square" lIns="0" tIns="0" rIns="0" bIns="0" rtlCol="0" anchor="t"/>
          <a:lstStyle/>
          <a:p>
            <a:pPr indent="0" marL="0">
              <a:buNone/>
            </a:pPr>
            <a:r>
              <a:rPr lang="en-US" sz="1400" b="1" dirty="0">
                <a:solidFill>
                  <a:schemeClr val="tx2"/>
                </a:solidFill>
              </a:rPr>
              <a:t>Autonomous by class</a:t>
            </a:r>
            <a:endParaRPr lang="en-US" sz="1400" dirty="0"/>
          </a:p>
        </p:txBody>
      </p:sp>
      <p:sp>
        <p:nvSpPr>
          <p:cNvPr id="15" name="Text 12"/>
          <p:cNvSpPr txBox="1"/>
          <p:nvPr/>
        </p:nvSpPr>
        <p:spPr>
          <a:xfrm>
            <a:off x="6172200" y="4709160"/>
            <a:ext cx="1737360" cy="594360"/>
          </a:xfrm>
          <a:prstGeom prst="rect">
            <a:avLst/>
          </a:prstGeom>
          <a:noFill/>
          <a:ln/>
        </p:spPr>
        <p:txBody>
          <a:bodyPr wrap="square" lIns="0" tIns="0" rIns="0" bIns="0" rtlCol="0" anchor="t"/>
          <a:lstStyle/>
          <a:p>
            <a:pPr indent="0" marL="0">
              <a:buNone/>
            </a:pPr>
            <a:r>
              <a:rPr lang="en-US" sz="1200" dirty="0">
                <a:solidFill>
                  <a:schemeClr val="accent4"/>
                </a:solidFill>
              </a:rPr>
              <a:t>Small, known decisions</a:t>
            </a:r>
            <a:endParaRPr lang="en-US" sz="1200" dirty="0"/>
          </a:p>
        </p:txBody>
      </p:sp>
      <p:sp>
        <p:nvSpPr>
          <p:cNvPr id="16" name="Text 13"/>
          <p:cNvSpPr txBox="1"/>
          <p:nvPr/>
        </p:nvSpPr>
        <p:spPr>
          <a:xfrm>
            <a:off x="548640" y="1691640"/>
            <a:ext cx="3611880" cy="274320"/>
          </a:xfrm>
          <a:prstGeom prst="rect">
            <a:avLst/>
          </a:prstGeom>
          <a:noFill/>
          <a:ln/>
        </p:spPr>
        <p:txBody>
          <a:bodyPr wrap="square" lIns="0" tIns="0" rIns="0" bIns="0" rtlCol="0" anchor="t"/>
          <a:lstStyle/>
          <a:p>
            <a:pPr algn="ctr" indent="0" marL="0">
              <a:buNone/>
            </a:pPr>
            <a:r>
              <a:rPr lang="en-US" sz="1200" b="1" dirty="0">
                <a:solidFill>
                  <a:schemeClr val="accent1"/>
                </a:solidFill>
              </a:rPr>
              <a:t>12 weeks</a:t>
            </a:r>
            <a:endParaRPr lang="en-US" sz="1200" dirty="0"/>
          </a:p>
        </p:txBody>
      </p:sp>
      <p:sp>
        <p:nvSpPr>
          <p:cNvPr id="17" name="Shape 14"/>
          <p:cNvSpPr/>
          <p:nvPr/>
        </p:nvSpPr>
        <p:spPr>
          <a:xfrm>
            <a:off x="548640" y="2011680"/>
            <a:ext cx="3611880" cy="0"/>
          </a:xfrm>
          <a:prstGeom prst="line">
            <a:avLst/>
          </a:prstGeom>
          <a:noFill/>
          <a:ln w="19050">
            <a:solidFill>
              <a:srgbClr val="0B4F3C"/>
            </a:solidFill>
            <a:prstDash val="solid"/>
            <a:headEnd type="oval"/>
            <a:tailEnd type="oval"/>
          </a:ln>
        </p:spPr>
      </p:sp>
      <p:sp>
        <p:nvSpPr>
          <p:cNvPr id="18" name="Shape 15"/>
          <p:cNvSpPr/>
          <p:nvPr/>
        </p:nvSpPr>
        <p:spPr>
          <a:xfrm>
            <a:off x="548640" y="5486400"/>
            <a:ext cx="7315200" cy="640080"/>
          </a:xfrm>
          <a:prstGeom prst="roundRect">
            <a:avLst>
              <a:gd name="adj" fmla="val 11429"/>
            </a:avLst>
          </a:prstGeom>
          <a:solidFill>
            <a:schemeClr val="bg2"/>
          </a:solidFill>
          <a:ln/>
        </p:spPr>
      </p:sp>
      <p:sp>
        <p:nvSpPr>
          <p:cNvPr id="19" name="Text 16"/>
          <p:cNvSpPr txBox="1"/>
          <p:nvPr/>
        </p:nvSpPr>
        <p:spPr>
          <a:xfrm>
            <a:off x="777240" y="5486400"/>
            <a:ext cx="6949440" cy="640080"/>
          </a:xfrm>
          <a:prstGeom prst="rect">
            <a:avLst/>
          </a:prstGeom>
          <a:noFill/>
          <a:ln/>
        </p:spPr>
        <p:txBody>
          <a:bodyPr wrap="square" lIns="0" tIns="0" rIns="0" bIns="0" rtlCol="0" anchor="ctr"/>
          <a:lstStyle/>
          <a:p>
            <a:pPr indent="0" marL="0">
              <a:buNone/>
            </a:pPr>
            <a:r>
              <a:rPr lang="en-US" sz="1500" b="1" dirty="0">
                <a:solidFill>
                  <a:schemeClr val="accent3"/>
                </a:solidFill>
              </a:rPr>
              <a:t>Batch release: </a:t>
            </a:r>
            <a:pPr indent="0" marL="0">
              <a:buNone/>
            </a:pPr>
            <a:r>
              <a:rPr lang="en-US" sz="1500" dirty="0">
                <a:solidFill>
                  <a:schemeClr val="tx1"/>
                </a:solidFill>
              </a:rPr>
              <a:t>always the qualified person</a:t>
            </a:r>
            <a:endParaRPr lang="en-US" sz="1500" dirty="0"/>
          </a:p>
        </p:txBody>
      </p:sp>
      <p:sp>
        <p:nvSpPr>
          <p:cNvPr id="20" name="Text 17"/>
          <p:cNvSpPr txBox="1"/>
          <p:nvPr/>
        </p:nvSpPr>
        <p:spPr>
          <a:xfrm>
            <a:off x="8503920" y="1691640"/>
            <a:ext cx="31089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GOVERNANCE</a:t>
            </a:r>
            <a:endParaRPr lang="en-US" sz="1200" dirty="0"/>
          </a:p>
        </p:txBody>
      </p:sp>
      <p:sp>
        <p:nvSpPr>
          <p:cNvPr id="21" name="Shape 18"/>
          <p:cNvSpPr/>
          <p:nvPr/>
        </p:nvSpPr>
        <p:spPr>
          <a:xfrm>
            <a:off x="8503920" y="2148840"/>
            <a:ext cx="3108960" cy="1005840"/>
          </a:xfrm>
          <a:prstGeom prst="roundRect">
            <a:avLst>
              <a:gd name="adj" fmla="val 7273"/>
            </a:avLst>
          </a:prstGeom>
          <a:solidFill>
            <a:schemeClr val="bg2"/>
          </a:solidFill>
          <a:ln/>
        </p:spPr>
      </p:sp>
      <p:sp>
        <p:nvSpPr>
          <p:cNvPr id="22" name="Text 19"/>
          <p:cNvSpPr txBox="1"/>
          <p:nvPr/>
        </p:nvSpPr>
        <p:spPr>
          <a:xfrm>
            <a:off x="8686800" y="2286000"/>
            <a:ext cx="2834640" cy="320040"/>
          </a:xfrm>
          <a:prstGeom prst="rect">
            <a:avLst/>
          </a:prstGeom>
          <a:noFill/>
          <a:ln/>
        </p:spPr>
        <p:txBody>
          <a:bodyPr wrap="square" lIns="0" tIns="0" rIns="0" bIns="0" rtlCol="0" anchor="t"/>
          <a:lstStyle/>
          <a:p>
            <a:pPr indent="0" marL="0">
              <a:buNone/>
            </a:pPr>
            <a:r>
              <a:rPr lang="en-US" sz="1500" b="1" dirty="0">
                <a:solidFill>
                  <a:schemeClr val="tx2"/>
                </a:solidFill>
              </a:rPr>
              <a:t>Weekly</a:t>
            </a:r>
            <a:endParaRPr lang="en-US" sz="1500" dirty="0"/>
          </a:p>
        </p:txBody>
      </p:sp>
      <p:sp>
        <p:nvSpPr>
          <p:cNvPr id="23" name="Text 20"/>
          <p:cNvSpPr txBox="1"/>
          <p:nvPr/>
        </p:nvSpPr>
        <p:spPr>
          <a:xfrm>
            <a:off x="8686800" y="2651760"/>
            <a:ext cx="2834640" cy="365760"/>
          </a:xfrm>
          <a:prstGeom prst="rect">
            <a:avLst/>
          </a:prstGeom>
          <a:noFill/>
          <a:ln/>
        </p:spPr>
        <p:txBody>
          <a:bodyPr wrap="square" lIns="0" tIns="0" rIns="0" bIns="0" rtlCol="0" anchor="t"/>
          <a:lstStyle/>
          <a:p>
            <a:pPr indent="0" marL="0">
              <a:buNone/>
            </a:pPr>
            <a:r>
              <a:rPr lang="en-US" sz="1400" dirty="0">
                <a:solidFill>
                  <a:schemeClr val="tx1"/>
                </a:solidFill>
              </a:rPr>
              <a:t>Ops review, 30 min</a:t>
            </a:r>
            <a:endParaRPr lang="en-US" sz="1400" dirty="0"/>
          </a:p>
        </p:txBody>
      </p:sp>
      <p:sp>
        <p:nvSpPr>
          <p:cNvPr id="24" name="Shape 21"/>
          <p:cNvSpPr/>
          <p:nvPr/>
        </p:nvSpPr>
        <p:spPr>
          <a:xfrm>
            <a:off x="8503920" y="3337560"/>
            <a:ext cx="3108960" cy="1005840"/>
          </a:xfrm>
          <a:prstGeom prst="roundRect">
            <a:avLst>
              <a:gd name="adj" fmla="val 7273"/>
            </a:avLst>
          </a:prstGeom>
          <a:solidFill>
            <a:schemeClr val="bg2"/>
          </a:solidFill>
          <a:ln/>
        </p:spPr>
      </p:sp>
      <p:sp>
        <p:nvSpPr>
          <p:cNvPr id="25" name="Text 22"/>
          <p:cNvSpPr txBox="1"/>
          <p:nvPr/>
        </p:nvSpPr>
        <p:spPr>
          <a:xfrm>
            <a:off x="8686800" y="3474720"/>
            <a:ext cx="2834640" cy="320040"/>
          </a:xfrm>
          <a:prstGeom prst="rect">
            <a:avLst/>
          </a:prstGeom>
          <a:noFill/>
          <a:ln/>
        </p:spPr>
        <p:txBody>
          <a:bodyPr wrap="square" lIns="0" tIns="0" rIns="0" bIns="0" rtlCol="0" anchor="t"/>
          <a:lstStyle/>
          <a:p>
            <a:pPr indent="0" marL="0">
              <a:buNone/>
            </a:pPr>
            <a:r>
              <a:rPr lang="en-US" sz="1500" b="1" dirty="0">
                <a:solidFill>
                  <a:schemeClr val="tx2"/>
                </a:solidFill>
              </a:rPr>
              <a:t>Monthly</a:t>
            </a:r>
            <a:endParaRPr lang="en-US" sz="1500" dirty="0"/>
          </a:p>
        </p:txBody>
      </p:sp>
      <p:sp>
        <p:nvSpPr>
          <p:cNvPr id="26" name="Text 23"/>
          <p:cNvSpPr txBox="1"/>
          <p:nvPr/>
        </p:nvSpPr>
        <p:spPr>
          <a:xfrm>
            <a:off x="8686800" y="3840480"/>
            <a:ext cx="2834640" cy="365760"/>
          </a:xfrm>
          <a:prstGeom prst="rect">
            <a:avLst/>
          </a:prstGeom>
          <a:noFill/>
          <a:ln/>
        </p:spPr>
        <p:txBody>
          <a:bodyPr wrap="square" lIns="0" tIns="0" rIns="0" bIns="0" rtlCol="0" anchor="t"/>
          <a:lstStyle/>
          <a:p>
            <a:pPr indent="0" marL="0">
              <a:buNone/>
            </a:pPr>
            <a:r>
              <a:rPr lang="en-US" sz="1400" dirty="0">
                <a:solidFill>
                  <a:schemeClr val="tx1"/>
                </a:solidFill>
              </a:rPr>
              <a:t>Steering: go or stop, 1 h</a:t>
            </a:r>
            <a:endParaRPr lang="en-US" sz="1400" dirty="0"/>
          </a:p>
        </p:txBody>
      </p:sp>
      <p:sp>
        <p:nvSpPr>
          <p:cNvPr id="27" name="Shape 24"/>
          <p:cNvSpPr/>
          <p:nvPr/>
        </p:nvSpPr>
        <p:spPr>
          <a:xfrm>
            <a:off x="8503920" y="4526280"/>
            <a:ext cx="3108960" cy="1005840"/>
          </a:xfrm>
          <a:prstGeom prst="roundRect">
            <a:avLst>
              <a:gd name="adj" fmla="val 7273"/>
            </a:avLst>
          </a:prstGeom>
          <a:solidFill>
            <a:schemeClr val="bg2"/>
          </a:solidFill>
          <a:ln/>
        </p:spPr>
      </p:sp>
      <p:sp>
        <p:nvSpPr>
          <p:cNvPr id="28" name="Text 25"/>
          <p:cNvSpPr txBox="1"/>
          <p:nvPr/>
        </p:nvSpPr>
        <p:spPr>
          <a:xfrm>
            <a:off x="8686800" y="4663440"/>
            <a:ext cx="2834640" cy="320040"/>
          </a:xfrm>
          <a:prstGeom prst="rect">
            <a:avLst/>
          </a:prstGeom>
          <a:noFill/>
          <a:ln/>
        </p:spPr>
        <p:txBody>
          <a:bodyPr wrap="square" lIns="0" tIns="0" rIns="0" bIns="0" rtlCol="0" anchor="t"/>
          <a:lstStyle/>
          <a:p>
            <a:pPr indent="0" marL="0">
              <a:buNone/>
            </a:pPr>
            <a:r>
              <a:rPr lang="en-US" sz="1500" b="1" dirty="0">
                <a:solidFill>
                  <a:schemeClr val="tx2"/>
                </a:solidFill>
              </a:rPr>
              <a:t>Ongoing</a:t>
            </a:r>
            <a:endParaRPr lang="en-US" sz="1500" dirty="0"/>
          </a:p>
        </p:txBody>
      </p:sp>
      <p:sp>
        <p:nvSpPr>
          <p:cNvPr id="29" name="Text 26"/>
          <p:cNvSpPr txBox="1"/>
          <p:nvPr/>
        </p:nvSpPr>
        <p:spPr>
          <a:xfrm>
            <a:off x="8686800" y="5029200"/>
            <a:ext cx="2834640" cy="365760"/>
          </a:xfrm>
          <a:prstGeom prst="rect">
            <a:avLst/>
          </a:prstGeom>
          <a:noFill/>
          <a:ln/>
        </p:spPr>
        <p:txBody>
          <a:bodyPr wrap="square" lIns="0" tIns="0" rIns="0" bIns="0" rtlCol="0" anchor="t"/>
          <a:lstStyle/>
          <a:p>
            <a:pPr indent="0" marL="0">
              <a:buNone/>
            </a:pPr>
            <a:r>
              <a:rPr lang="en-US" sz="1400" dirty="0">
                <a:solidFill>
                  <a:schemeClr val="tx1"/>
                </a:solidFill>
              </a:rPr>
              <a:t>Decision log</a:t>
            </a:r>
            <a:endParaRPr lang="en-US" sz="14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lIns="0" tIns="0" rIns="0" bIns="0" rtlCol="0" anchor="t"/>
          <a:lstStyle/>
          <a:p>
            <a:pPr algn="l" indent="0" marL="0">
              <a:buNone/>
            </a:pPr>
            <a:r>
              <a:rPr lang="en-US" sz="3000" b="1" dirty="0">
                <a:solidFill>
                  <a:schemeClr val="tx2"/>
                </a:solidFill>
              </a:rPr>
              <a:t>To start Monday, we need 8 decisions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6949440"/>
                <a:gridCol w="2560320"/>
                <a:gridCol w="1554480"/>
              </a:tblGrid>
              <a:tr h="475488">
                <a:tc>
                  <a:txBody>
                    <a:bodyPr/>
                    <a:lstStyle/>
                    <a:p>
                      <a:pPr indent="0" marL="0">
                        <a:buNone/>
                      </a:pPr>
                      <a:r>
                        <a:rPr lang="en-US" sz="1400" b="1" dirty="0">
                          <a:solidFill>
                            <a:srgbClr val="FFFFFF"/>
                          </a:solidFill>
                        </a:rPr>
                        <a:t>Decision</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0B4F3C"/>
                    </a:solidFill>
                  </a:tcPr>
                </a:tc>
                <a:tc>
                  <a:txBody>
                    <a:bodyPr/>
                    <a:lstStyle/>
                    <a:p>
                      <a:pPr indent="0" marL="0">
                        <a:buNone/>
                      </a:pPr>
                      <a:r>
                        <a:rPr lang="en-US" sz="1400" b="1" dirty="0">
                          <a:solidFill>
                            <a:srgbClr val="FFFFFF"/>
                          </a:solidFill>
                        </a:rPr>
                        <a:t>Who</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0B4F3C"/>
                    </a:solidFill>
                  </a:tcPr>
                </a:tc>
                <a:tc>
                  <a:txBody>
                    <a:bodyPr/>
                    <a:lstStyle/>
                    <a:p>
                      <a:pPr indent="0" marL="0">
                        <a:buNone/>
                      </a:pPr>
                      <a:r>
                        <a:rPr lang="en-US" sz="1400" b="1" dirty="0">
                          <a:solidFill>
                            <a:srgbClr val="FFFFFF"/>
                          </a:solidFill>
                        </a:rPr>
                        <a:t>When</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0B4F3C"/>
                    </a:solidFill>
                  </a:tcPr>
                </a:tc>
              </a:tr>
              <a:tr h="475488">
                <a:tc>
                  <a:txBody>
                    <a:bodyPr/>
                    <a:lstStyle/>
                    <a:p>
                      <a:pPr indent="0" marL="0">
                        <a:buNone/>
                      </a:pPr>
                      <a:r>
                        <a:rPr lang="en-US" sz="1400" dirty="0">
                          <a:solidFill>
                            <a:srgbClr val="1D1D1B"/>
                          </a:solidFill>
                        </a:rPr>
                        <a:t>Scope agreed: target, 4 projects, right to stop</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D1D1B"/>
                          </a:solidFill>
                        </a:rPr>
                        <a:t>CEO, sponsor</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b="1" dirty="0">
                          <a:solidFill>
                            <a:srgbClr val="0B4F3C"/>
                          </a:solidFill>
                        </a:rPr>
                        <a:t>Monday</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D1D1B"/>
                          </a:solidFill>
                        </a:rPr>
                        <a:t>Sponsor: 30 min a week, blockers cleared in 1 week</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c>
                  <a:txBody>
                    <a:bodyPr/>
                    <a:lstStyle/>
                    <a:p>
                      <a:pPr indent="0" marL="0">
                        <a:buNone/>
                      </a:pPr>
                      <a:r>
                        <a:rPr lang="en-US" sz="1400" dirty="0">
                          <a:solidFill>
                            <a:srgbClr val="1D1D1B"/>
                          </a:solidFill>
                        </a:rPr>
                        <a:t>Bruno Martel</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c>
                  <a:txBody>
                    <a:bodyPr/>
                    <a:lstStyle/>
                    <a:p>
                      <a:pPr indent="0" marL="0">
                        <a:buNone/>
                      </a:pPr>
                      <a:r>
                        <a:rPr lang="en-US" sz="1400" b="1" dirty="0">
                          <a:solidFill>
                            <a:srgbClr val="0B4F3C"/>
                          </a:solidFill>
                        </a:rPr>
                        <a:t>Monday</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r>
              <a:tr h="475488">
                <a:tc>
                  <a:txBody>
                    <a:bodyPr/>
                    <a:lstStyle/>
                    <a:p>
                      <a:pPr indent="0" marL="0">
                        <a:buNone/>
                      </a:pPr>
                      <a:r>
                        <a:rPr lang="en-US" sz="1400" dirty="0">
                          <a:solidFill>
                            <a:srgbClr val="1D1D1B"/>
                          </a:solidFill>
                        </a:rPr>
                        <a:t>Read-only access: ERP, production, LIMS, QMS</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D1D1B"/>
                          </a:solidFill>
                        </a:rPr>
                        <a:t>CIO</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b="1" dirty="0">
                          <a:solidFill>
                            <a:srgbClr val="0B4F3C"/>
                          </a:solidFill>
                        </a:rPr>
                        <a:t>Day 1</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D1D1B"/>
                          </a:solidFill>
                        </a:rPr>
                        <a:t>IT security review started</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c>
                  <a:txBody>
                    <a:bodyPr/>
                    <a:lstStyle/>
                    <a:p>
                      <a:pPr indent="0" marL="0">
                        <a:buNone/>
                      </a:pPr>
                      <a:r>
                        <a:rPr lang="en-US" sz="1400" dirty="0">
                          <a:solidFill>
                            <a:srgbClr val="1D1D1B"/>
                          </a:solidFill>
                        </a:rPr>
                        <a:t>CIO</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c>
                  <a:txBody>
                    <a:bodyPr/>
                    <a:lstStyle/>
                    <a:p>
                      <a:pPr indent="0" marL="0">
                        <a:buNone/>
                      </a:pPr>
                      <a:r>
                        <a:rPr lang="en-US" sz="1400" b="1" dirty="0">
                          <a:solidFill>
                            <a:srgbClr val="0B4F3C"/>
                          </a:solidFill>
                        </a:rPr>
                        <a:t>Day 1</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r>
              <a:tr h="475488">
                <a:tc>
                  <a:txBody>
                    <a:bodyPr/>
                    <a:lstStyle/>
                    <a:p>
                      <a:pPr indent="0" marL="0">
                        <a:buNone/>
                      </a:pPr>
                      <a:r>
                        <a:rPr lang="en-US" sz="1400" dirty="0">
                          <a:solidFill>
                            <a:srgbClr val="1D1D1B"/>
                          </a:solidFill>
                        </a:rPr>
                        <a:t>Baseline and gains protocol signed</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D1D1B"/>
                          </a:solidFill>
                        </a:rPr>
                        <a:t>Controller</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b="1" dirty="0">
                          <a:solidFill>
                            <a:srgbClr val="0B4F3C"/>
                          </a:solidFill>
                        </a:rPr>
                        <a:t>W1</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D1D1B"/>
                          </a:solidFill>
                        </a:rPr>
                        <a:t>Order book and lost sales</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c>
                  <a:txBody>
                    <a:bodyPr/>
                    <a:lstStyle/>
                    <a:p>
                      <a:pPr indent="0" marL="0">
                        <a:buNone/>
                      </a:pPr>
                      <a:r>
                        <a:rPr lang="en-US" sz="1400" dirty="0">
                          <a:solidFill>
                            <a:srgbClr val="1D1D1B"/>
                          </a:solidFill>
                        </a:rPr>
                        <a:t>Supply chain</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c>
                  <a:txBody>
                    <a:bodyPr/>
                    <a:lstStyle/>
                    <a:p>
                      <a:pPr indent="0" marL="0">
                        <a:buNone/>
                      </a:pPr>
                      <a:r>
                        <a:rPr lang="en-US" sz="1400" b="1" dirty="0">
                          <a:solidFill>
                            <a:srgbClr val="0B4F3C"/>
                          </a:solidFill>
                        </a:rPr>
                        <a:t>W2</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r>
              <a:tr h="475488">
                <a:tc>
                  <a:txBody>
                    <a:bodyPr/>
                    <a:lstStyle/>
                    <a:p>
                      <a:pPr indent="0" marL="0">
                        <a:buNone/>
                      </a:pPr>
                      <a:r>
                        <a:rPr lang="en-US" sz="1400" dirty="0">
                          <a:solidFill>
                            <a:srgbClr val="1D1D1B"/>
                          </a:solidFill>
                        </a:rPr>
                        <a:t>Named hours for experts</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D1D1B"/>
                          </a:solidFill>
                        </a:rPr>
                        <a:t>Sponsor, HR</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b="1" dirty="0">
                          <a:solidFill>
                            <a:srgbClr val="0B4F3C"/>
                          </a:solidFill>
                        </a:rPr>
                        <a:t>W1–W4</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D1D1B"/>
                          </a:solidFill>
                        </a:rPr>
                        <a:t>Works council consulted</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c>
                  <a:txBody>
                    <a:bodyPr/>
                    <a:lstStyle/>
                    <a:p>
                      <a:pPr indent="0" marL="0">
                        <a:buNone/>
                      </a:pPr>
                      <a:r>
                        <a:rPr lang="en-US" sz="1400" dirty="0">
                          <a:solidFill>
                            <a:srgbClr val="1D1D1B"/>
                          </a:solidFill>
                        </a:rPr>
                        <a:t>HR</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c>
                  <a:txBody>
                    <a:bodyPr/>
                    <a:lstStyle/>
                    <a:p>
                      <a:pPr indent="0" marL="0">
                        <a:buNone/>
                      </a:pPr>
                      <a:r>
                        <a:rPr lang="en-US" sz="1400" b="1" dirty="0">
                          <a:solidFill>
                            <a:srgbClr val="0B4F3C"/>
                          </a:solidFill>
                        </a:rPr>
                        <a:t>Before W5</a:t>
                      </a:r>
                      <a:endParaRPr lang="en-US" sz="1400" dirty="0"/>
                    </a:p>
                  </a:txBody>
                  <a:tcPr marL="137160" marR="137160" marT="45720" marB="45720" anchor="ctr">
                    <a:lnL w="9525" cap="flat" cmpd="sng" algn="ctr">
                      <a:solidFill>
                        <a:srgbClr val="D5DED7"/>
                      </a:solidFill>
                      <a:prstDash val="solid"/>
                      <a:round/>
                      <a:headEnd type="none" w="med" len="med"/>
                      <a:tailEnd type="none" w="med" len="med"/>
                    </a:lnL>
                    <a:lnR w="9525" cap="flat" cmpd="sng" algn="ctr">
                      <a:solidFill>
                        <a:srgbClr val="D5DED7"/>
                      </a:solidFill>
                      <a:prstDash val="solid"/>
                      <a:round/>
                      <a:headEnd type="none" w="med" len="med"/>
                      <a:tailEnd type="none" w="med" len="med"/>
                    </a:lnR>
                    <a:lnT w="9525" cap="flat" cmpd="sng" algn="ctr">
                      <a:solidFill>
                        <a:srgbClr val="D5DED7"/>
                      </a:solidFill>
                      <a:prstDash val="solid"/>
                      <a:round/>
                      <a:headEnd type="none" w="med" len="med"/>
                      <a:tailEnd type="none" w="med" len="med"/>
                    </a:lnT>
                    <a:lnB w="9525" cap="flat" cmpd="sng" algn="ctr">
                      <a:solidFill>
                        <a:srgbClr val="D5DED7"/>
                      </a:solidFill>
                      <a:prstDash val="solid"/>
                      <a:round/>
                      <a:headEnd type="none" w="med" len="med"/>
                      <a:tailEnd type="none" w="med" len="med"/>
                    </a:lnB>
                    <a:solidFill>
                      <a:srgbClr val="E6F0E8"/>
                    </a:solidFill>
                  </a:tcPr>
                </a:tc>
              </a:tr>
            </a:tbl>
          </a:graphicData>
        </a:graphic>
      </p:graphicFrame>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Sorel Kickoff">
  <a:themeElements>
    <a:clrScheme name="Sorel Kickoff">
      <a:dk1>
        <a:srgbClr val="1D1D1B"/>
      </a:dk1>
      <a:lt1>
        <a:srgbClr val="FFFFFF"/>
      </a:lt1>
      <a:dk2>
        <a:srgbClr val="0B4F3C"/>
      </a:dk2>
      <a:lt2>
        <a:srgbClr val="E6F0E8"/>
      </a:lt2>
      <a:accent1>
        <a:srgbClr val="0B4F3C"/>
      </a:accent1>
      <a:accent2>
        <a:srgbClr val="5E9E3E"/>
      </a:accent2>
      <a:accent3>
        <a:srgbClr val="B5482F"/>
      </a:accent3>
      <a:accent4>
        <a:srgbClr val="6B6B6B"/>
      </a:accent4>
      <a:accent5>
        <a:srgbClr val="D5DED7"/>
      </a:accent5>
      <a:accent6>
        <a:srgbClr val="A9CBA0"/>
      </a:accent6>
      <a:hlink>
        <a:srgbClr val="0B4F3C"/>
      </a:hlink>
      <a:folHlink>
        <a:srgbClr val="5E9E3E"/>
      </a:folHlink>
    </a:clrScheme>
    <a:fontScheme name="Sorel Kickoff">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committee kickoff: plan and method</dc:title>
  <dc:subject>PptxGenJS Presentation</dc:subject>
  <dc:creator>PptxGenJS</dc:creator>
  <cp:lastModifiedBy>PptxGenJS</cp:lastModifiedBy>
  <cp:revision>1</cp:revision>
  <dcterms:created xsi:type="dcterms:W3CDTF">2026-10-16T08:57:55Z</dcterms:created>
  <dcterms:modified xsi:type="dcterms:W3CDTF">2026-10-16T08:57:55Z</dcterms:modified>
</cp:coreProperties>
</file>