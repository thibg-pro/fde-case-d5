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ning" id="{035330f8-c973-eebc-e245-084b1bb54bb7}">
          <p14:sldIdLst>
            <p14:sldId id="256"/>
            <p14:sldId id="257"/>
            <p14:sldId id="258"/>
          </p14:sldIdLst>
        </p14:section>
        <p14:section name="Méthode &amp; prérequis" id="{3930806a-5729-4d0e-bf9d-bc5a996d18bc}">
          <p14:sldIdLst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Méthode en 4 étapes. Nos 12 semaines couvrent le Diagnostic et la Preuve technique. Chaque étape se termine sur un critère de sortie visible par le sponsor. On ancre chaque ligne avant de passer à la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Ordonnancement et qualité produit portent le +8 %. La qualité finale apporte surtout du cash (environ 9 M€, une seule fois) et du service. Le time to market ne passe en preuve technique que si le jalon S4 le justifie. Environ 30 % des initiatives échouent : arrêter un projet est un résultat, documenté comme un 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seuils sont des propositions à caler avec le sponsor. Les critères sont relus à voix haute à chaque comité. Rater deux fois le même jalon vaut décision d'arrêt.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+8 % est mesuré sur la ligne goulot : une heure gagnée ailleurs n'ajoute aucun lot. La capacité libérée ne vaut de l'argent que si elle se vend : question au comex, quel est le carnet de commandes face à la capacité démontrée ? Les ruptures à l'export suggèrent que oui, à prouver. Le cash du stock de la qualité finale (environ 9 M€) est compté une seule fois. La baseline et le protocole de gains (indicateur, formule, source, normalisation, rythme, seuil de validation) sont signés en S1.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Quatre niveaux de déploiement. En 12 semaines, on va jusqu'au copilote : l'équipe part de la proposition et justifie chaque modification. Chaque désaccord avec l'outil est analysé jusqu'à la cause : règle manquante, règle fausse, donnée fausse. La libération d'un lot reste toujours la décision de la pharmacienne responsable. Gouvernance : revue opérationnelle hebdomadaire de 30 minutes, comité mensuel d'une heure qui tranche go ou stop, journal des décisions relu à chaque rituel. Pas de surprise : une mauvaise nouvelle est annoncée le jour même, avec des options.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sponsor consacre 30 minutes par semaine et lève un blocage dans la semaine. La revue de sécurité informatique démarre le premier jour ; en attendant, on travaille sur des extractions. Les heures des experts sont dégagées par leurs managers, pas demandées aux experts eux-mêmes. En France, le CSE est consulté avant tout outil qui pourrait servir à suivre le travail des opérateurs.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Laboratoires Sorel · Kickoff comex · Planning &amp; méthode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En 12 semaines, +8 % prouvés sur la ligne goulot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11480" y="1600200"/>
            <a:ext cx="5715000" cy="4343400"/>
          </a:xfrm>
          <a:prstGeom prst="roundRect">
            <a:avLst>
              <a:gd name="adj" fmla="val 1684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NOS 12 SEMAINES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8580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463040" y="2606040"/>
            <a:ext cx="1920240" cy="0"/>
          </a:xfrm>
          <a:prstGeom prst="line">
            <a:avLst/>
          </a:prstGeom>
          <a:noFill/>
          <a:ln w="19050">
            <a:solidFill>
              <a:srgbClr val="D5DED7"/>
            </a:solidFill>
            <a:prstDash val="solid"/>
            <a:tailEnd type="triangle"/>
          </a:ln>
        </p:spPr>
      </p:sp>
      <p:sp>
        <p:nvSpPr>
          <p:cNvPr id="9" name="Text 6"/>
          <p:cNvSpPr txBox="1"/>
          <p:nvPr/>
        </p:nvSpPr>
        <p:spPr>
          <a:xfrm>
            <a:off x="68580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Diagnostic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2–4 sem.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S1–S4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Charte signée, baseline validée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520440" y="22860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5204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4297680" y="2606040"/>
            <a:ext cx="1920240" cy="0"/>
          </a:xfrm>
          <a:prstGeom prst="line">
            <a:avLst/>
          </a:prstGeom>
          <a:noFill/>
          <a:ln w="19050">
            <a:solidFill>
              <a:srgbClr val="D5DED7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352044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Preuve technique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6–12 sem.</a:t>
            </a:r>
            <a:endParaRPr lang="en-US" sz="3200" dirty="0"/>
          </a:p>
        </p:txBody>
      </p:sp>
      <p:sp>
        <p:nvSpPr>
          <p:cNvPr id="18" name="Text 15"/>
          <p:cNvSpPr txBox="1"/>
          <p:nvPr/>
        </p:nvSpPr>
        <p:spPr>
          <a:xfrm>
            <a:off x="352044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S4–S12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352044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Utilisateurs nommés, gain mesuré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55080" y="22860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3550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7132320" y="2606040"/>
            <a:ext cx="1920240" cy="0"/>
          </a:xfrm>
          <a:prstGeom prst="line">
            <a:avLst/>
          </a:prstGeom>
          <a:noFill/>
          <a:ln w="19050">
            <a:solidFill>
              <a:srgbClr val="D5DED7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635508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Passage à l'échelle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635508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3–9 mois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635508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M4–M12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35508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Toutes les lignes, outil géré par la DSI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189720" y="22860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89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Text 26"/>
          <p:cNvSpPr txBox="1"/>
          <p:nvPr/>
        </p:nvSpPr>
        <p:spPr>
          <a:xfrm>
            <a:off x="9189720" y="3154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Ancrage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9189720" y="3611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En continu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9189720" y="4343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Ligne par ligne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9189720" y="4892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Tient sans nous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4 projets en parallèle, un go ou stop toutes les 4 semaines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393192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S1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21208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S3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85216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S4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S5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S6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S7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1248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S8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05256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S9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9264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S10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33272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S11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0" y="14630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S12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Ordonnancement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2258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Capacité : direct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68496" y="1984248"/>
            <a:ext cx="2487168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968496" y="19842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528816" y="1984248"/>
            <a:ext cx="3127248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665976" y="19842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Preuve technique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2633472"/>
            <a:ext cx="11064240" cy="0"/>
          </a:xfrm>
          <a:prstGeom prst="line">
            <a:avLst/>
          </a:prstGeom>
          <a:noFill/>
          <a:ln w="9525">
            <a:solidFill>
              <a:srgbClr val="D5DED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Qualité produit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Capacité : direct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968496" y="2852928"/>
            <a:ext cx="2487168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968496" y="28529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28816" y="2852928"/>
            <a:ext cx="5047488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6665976" y="28529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Preuve technique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502152"/>
            <a:ext cx="11064240" cy="0"/>
          </a:xfrm>
          <a:prstGeom prst="line">
            <a:avLst/>
          </a:prstGeom>
          <a:noFill/>
          <a:ln w="9525">
            <a:solidFill>
              <a:srgbClr val="D5DED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Qualité finale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548640" y="3995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Cash et service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968496" y="3721608"/>
            <a:ext cx="2487168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968496" y="37216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528816" y="3721608"/>
            <a:ext cx="5047488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665976" y="3721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Preuve technique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548640" y="4370832"/>
            <a:ext cx="11064240" cy="0"/>
          </a:xfrm>
          <a:prstGeom prst="line">
            <a:avLst/>
          </a:prstGeom>
          <a:noFill/>
          <a:ln w="9525">
            <a:solidFill>
              <a:srgbClr val="D5DED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48640" y="4526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Time to market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Croissance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3968496" y="4590288"/>
            <a:ext cx="2487168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3968496" y="45902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Diagnostic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6528816" y="4590288"/>
            <a:ext cx="5047488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rgbClr val="6B6B6B"/>
            </a:solidFill>
            <a:prstDash val="dash"/>
          </a:ln>
        </p:spPr>
      </p:sp>
      <p:sp>
        <p:nvSpPr>
          <p:cNvPr id="42" name="Text 39"/>
          <p:cNvSpPr txBox="1"/>
          <p:nvPr/>
        </p:nvSpPr>
        <p:spPr>
          <a:xfrm>
            <a:off x="6665976" y="4590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Seulement si go en S4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492240" y="1828800"/>
            <a:ext cx="0" cy="3474720"/>
          </a:xfrm>
          <a:prstGeom prst="line">
            <a:avLst/>
          </a:prstGeom>
          <a:noFill/>
          <a:ln w="15875">
            <a:solidFill>
              <a:srgbClr val="B5482F"/>
            </a:solidFill>
            <a:prstDash val="dash"/>
          </a:ln>
        </p:spPr>
      </p:sp>
      <p:sp>
        <p:nvSpPr>
          <p:cNvPr id="44" name="Shape 41"/>
          <p:cNvSpPr/>
          <p:nvPr/>
        </p:nvSpPr>
        <p:spPr>
          <a:xfrm>
            <a:off x="6336792" y="5330952"/>
            <a:ext cx="310896" cy="310896"/>
          </a:xfrm>
          <a:prstGeom prst="diamond">
            <a:avLst/>
          </a:prstGeom>
          <a:solidFill>
            <a:schemeClr val="accent3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5394960" y="5715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Go / stop S4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9052560" y="1828800"/>
            <a:ext cx="0" cy="3474720"/>
          </a:xfrm>
          <a:prstGeom prst="line">
            <a:avLst/>
          </a:prstGeom>
          <a:noFill/>
          <a:ln w="15875">
            <a:solidFill>
              <a:srgbClr val="B5482F"/>
            </a:solidFill>
            <a:prstDash val="dash"/>
          </a:ln>
        </p:spPr>
      </p:sp>
      <p:sp>
        <p:nvSpPr>
          <p:cNvPr id="47" name="Shape 44"/>
          <p:cNvSpPr/>
          <p:nvPr/>
        </p:nvSpPr>
        <p:spPr>
          <a:xfrm>
            <a:off x="8897112" y="5330952"/>
            <a:ext cx="310896" cy="310896"/>
          </a:xfrm>
          <a:prstGeom prst="diamond">
            <a:avLst/>
          </a:prstGeom>
          <a:solidFill>
            <a:schemeClr val="accent3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955280" y="5715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Go / stop S8</a:t>
            </a:r>
            <a:endParaRPr lang="en-US" sz="1200" dirty="0"/>
          </a:p>
        </p:txBody>
      </p:sp>
      <p:sp>
        <p:nvSpPr>
          <p:cNvPr id="49" name="Shape 46"/>
          <p:cNvSpPr/>
          <p:nvPr/>
        </p:nvSpPr>
        <p:spPr>
          <a:xfrm>
            <a:off x="11612880" y="1828800"/>
            <a:ext cx="0" cy="3474720"/>
          </a:xfrm>
          <a:prstGeom prst="line">
            <a:avLst/>
          </a:prstGeom>
          <a:noFill/>
          <a:ln w="15875">
            <a:solidFill>
              <a:srgbClr val="B5482F"/>
            </a:solidFill>
            <a:prstDash val="dash"/>
          </a:ln>
        </p:spPr>
      </p:sp>
      <p:sp>
        <p:nvSpPr>
          <p:cNvPr id="50" name="Shape 47"/>
          <p:cNvSpPr/>
          <p:nvPr/>
        </p:nvSpPr>
        <p:spPr>
          <a:xfrm>
            <a:off x="11457432" y="5330952"/>
            <a:ext cx="310896" cy="310896"/>
          </a:xfrm>
          <a:prstGeom prst="diamond">
            <a:avLst/>
          </a:prstGeom>
          <a:solidFill>
            <a:schemeClr val="accent3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9418320" y="5715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Go / stop S12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Environ 30 % des initiatives échouent : arrêter un projet est un résultat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Chaque jalon a un critère d'arrêt, validé aujourd'hui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062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Projet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Stop en S4 si…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Stop en S8 si…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Ordonnancement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Changements de format &lt; 1/3 des pertes de capacité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Simulation &lt; +3 % de capacité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Qualité produit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Rebuts et déviations &lt; 2 % du rendement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Pas de baisse des déviations sur la ligne pilote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Qualité finale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La revue n'est pas le goulot de la libération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Une anomalie critique manquée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Time to market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&gt; 80 % du délai hors usine (R&amp;D, réglementaire)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Devient une recommandation</a:t>
                      </a:r>
                      <a:endParaRPr lang="en-US" sz="1400" dirty="0"/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548640" y="512064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Règle 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rater deux fois le même jalon vaut décision d'arrêt. Les seuils sont à caler avec le sponsor.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Un gain compte quand votre contrôleur le calcule sans nous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</a:rPr>
              <a:t>+8 %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063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 capacité sur la ligne goulot, à mix normalisé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Baseline signée en S1 par le contrôleur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389120" y="283464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389120" y="2834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Capacité libérée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086600" y="2697480"/>
            <a:ext cx="1188720" cy="1188720"/>
          </a:xfrm>
          <a:prstGeom prst="diamond">
            <a:avLst/>
          </a:prstGeom>
          <a:solidFill>
            <a:schemeClr val="bg2"/>
          </a:solidFill>
          <a:ln w="12700">
            <a:solidFill>
              <a:srgbClr val="0B4F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86600" y="26974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Vendue 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0" y="3291840"/>
            <a:ext cx="502920" cy="0"/>
          </a:xfrm>
          <a:prstGeom prst="line">
            <a:avLst/>
          </a:prstGeom>
          <a:noFill/>
          <a:ln w="190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275320" y="3291840"/>
            <a:ext cx="411480" cy="-1005840"/>
          </a:xfrm>
          <a:prstGeom prst="line">
            <a:avLst/>
          </a:prstGeom>
          <a:noFill/>
          <a:ln w="19050">
            <a:solidFill>
              <a:srgbClr val="5E9E3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275320" y="3291840"/>
            <a:ext cx="411480" cy="1005840"/>
          </a:xfrm>
          <a:prstGeom prst="line">
            <a:avLst/>
          </a:prstGeom>
          <a:noFill/>
          <a:ln w="19050">
            <a:solidFill>
              <a:srgbClr val="B5482F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778240" y="1737360"/>
            <a:ext cx="2834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961120" y="173736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Oui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Marge sur coûts variables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778240" y="3749040"/>
            <a:ext cx="28346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961120" y="37490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Coûts évités seulement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389120" y="5257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</a:rPr>
              <a:t>À prouver en S2 : carnet de commandes et ventes perdues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L'IA propose, vos équipes décident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48640" y="374904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58368" y="38587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Fantôme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L'outil tourne en parallèle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423160" y="3246120"/>
            <a:ext cx="1737360" cy="1325880"/>
          </a:xfrm>
          <a:prstGeom prst="roundRect">
            <a:avLst>
              <a:gd name="adj" fmla="val 5517"/>
            </a:avLst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532888" y="33558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Copilote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Chaque modification est justifiée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743200"/>
            <a:ext cx="1737360" cy="1828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07408" y="28529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 défaut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L'équipe peut s'opposer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240280"/>
            <a:ext cx="1737360" cy="233172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81928" y="2350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Autonome par catégorie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4709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Petites décisions connues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16916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12 semaines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2011680"/>
            <a:ext cx="3611880" cy="0"/>
          </a:xfrm>
          <a:prstGeom prst="line">
            <a:avLst/>
          </a:prstGeom>
          <a:noFill/>
          <a:ln w="19050">
            <a:solidFill>
              <a:srgbClr val="0B4F3C"/>
            </a:solidFill>
            <a:prstDash val="solid"/>
            <a:headEnd type="oval"/>
            <a:tailEnd type="oval"/>
          </a:ln>
        </p:spPr>
      </p:sp>
      <p:sp>
        <p:nvSpPr>
          <p:cNvPr id="18" name="Shape 15"/>
          <p:cNvSpPr/>
          <p:nvPr/>
        </p:nvSpPr>
        <p:spPr>
          <a:xfrm>
            <a:off x="548640" y="5486400"/>
            <a:ext cx="731520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" y="54864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Libération d'un lot 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toujours la pharmacienne responsable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503920" y="1691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GOUVERNANCE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503920" y="214884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686800" y="2286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Chaque semaine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868680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Revue opérationnelle, 30 min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503920" y="333756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86800" y="34747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Chaque mois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686800" y="3840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Comité : go ou stop, 1 h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503920" y="45262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686800" y="4663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 continu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686800" y="5029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Journal des décisions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Pour démarrer lundi, nous avons besoin de 8 décisions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6949440"/>
                <a:gridCol w="256032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Décision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Qui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Quand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4F3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Accord sur le périmètre : +8 %, 4 projets, droit d'arrêt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CEO, sponsor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Lundi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Sponsor : 30 min par semaine, blocage levé en 1 semaine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Bruno Martel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Lundi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Accès lecture seule : ERP, production, LIMS, qualité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DSI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J1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Lancement de la revue de sécurité informatique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DSI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J1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Baseline et protocole de gains signés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Contrôleur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S1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Carnet de commandes et ventes perdues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Supply chain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S2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Heures nommées des experts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Sponsor, RH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S1–S4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Consultation du CSE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D1D1B"/>
                          </a:solidFill>
                        </a:rPr>
                        <a:t>RH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B4F3C"/>
                          </a:solidFill>
                        </a:rPr>
                        <a:t>Avant S5</a:t>
                      </a:r>
                      <a:endParaRPr lang="en-US" sz="1400" dirty="0"/>
                    </a:p>
                  </a:txBody>
                  <a:tcPr marL="137160" marR="137160" marT="45720" marB="45720" anchor="ctr">
                    <a:lnL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E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rel Kickoff">
  <a:themeElements>
    <a:clrScheme name="Sorel Kickoff">
      <a:dk1>
        <a:srgbClr val="1D1D1B"/>
      </a:dk1>
      <a:lt1>
        <a:srgbClr val="FFFFFF"/>
      </a:lt1>
      <a:dk2>
        <a:srgbClr val="0B4F3C"/>
      </a:dk2>
      <a:lt2>
        <a:srgbClr val="E6F0E8"/>
      </a:lt2>
      <a:accent1>
        <a:srgbClr val="0B4F3C"/>
      </a:accent1>
      <a:accent2>
        <a:srgbClr val="5E9E3E"/>
      </a:accent2>
      <a:accent3>
        <a:srgbClr val="B5482F"/>
      </a:accent3>
      <a:accent4>
        <a:srgbClr val="6B6B6B"/>
      </a:accent4>
      <a:accent5>
        <a:srgbClr val="D5DED7"/>
      </a:accent5>
      <a:accent6>
        <a:srgbClr val="A9CBA0"/>
      </a:accent6>
      <a:hlink>
        <a:srgbClr val="0B4F3C"/>
      </a:hlink>
      <a:folHlink>
        <a:srgbClr val="5E9E3E"/>
      </a:folHlink>
    </a:clrScheme>
    <a:fontScheme name="Sorel Kickoff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Kickoff comex : planning et méthode</dc:title>
  <dc:subject>PptxGenJS Presentation</dc:subject>
  <dc:creator>PptxGenJS</dc:creator>
  <cp:lastModifiedBy>PptxGenJS</cp:lastModifiedBy>
  <cp:revision>1</cp:revision>
  <dcterms:created xsi:type="dcterms:W3CDTF">2026-10-16T08:56:14Z</dcterms:created>
  <dcterms:modified xsi:type="dcterms:W3CDTF">2026-10-16T08:56:14Z</dcterms:modified>
</cp:coreProperties>
</file>